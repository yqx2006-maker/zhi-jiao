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8288000" cy="10287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项目：README.md、部署说明.md；指南：无界应用参赛指南。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项目：README.md 的目标用户与痛点边界；本页为问题定义，不是量化调研结论。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项目：评审演示脚本.md、tests/verify_loop.py；闭环步骤按本地演示路径整理。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项目：server.py 的诊断、教学、画像提示词与前端交互；为能力结构示意。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本地浏览器离线演示截图与评审演示脚本.md；案例标注为预设演示。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项目：README.md 的学习画像说明；证据与置信度表述按当前实现收敛。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项目：kb.json、README.md；轻量关键词知识卡不等同于完整向量 RAG。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项目：README.md 的产品定位；对比页为功能边界说明，不是外部竞品评测。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项目：server.py、部署说明.md、tools/ocr.exe 说明；技术能力按当前代码描述。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项目：tests/verify_loop.py 与本地浏览器离线实测记录；10/10 指基础检查，不是效果评测。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项目：开源协议与边界说明.md；数据去向与 AI 标识按当前代码边界修正。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项目：README.md 后续规划；所有 P1-P3 均为规划项。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项目：LICENSE、README.md、部署说明.md；收束页总结已验证闭环与边界。</a:t>
            </a:r>
          </a:p>
          <a:p>
            <a:r>
              <a:t>[Sources]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31A3D"/>
              </a:gs>
              <a:gs pos="100000">
                <a:srgbClr val="243064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lipse"/>
          <p:cNvSpPr>
            <a:spLocks noGrp="1"/>
          </p:cNvSpPr>
          <p:nvPr/>
        </p:nvSpPr>
        <p:spPr>
          <a:xfrm>
            <a:off x="13335000" y="0"/>
            <a:ext cx="4953000" cy="4953000"/>
          </a:xfrm>
          <a:prstGeom prst="ellipse">
            <a:avLst/>
          </a:prstGeom>
          <a:solidFill>
            <a:srgbClr val="FF9F5A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>
            <a:spLocks noGrp="1"/>
          </p:cNvSpPr>
          <p:nvPr/>
        </p:nvSpPr>
        <p:spPr>
          <a:xfrm>
            <a:off x="1143000" y="1219200"/>
            <a:ext cx="637896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9F5A"/>
                </a:solidFill>
                <a:latin typeface="Sarasa Gothic SC Bold"/>
                <a:ea typeface="Sarasa Gothic SC Bold"/>
                <a:cs typeface="Sarasa Gothic SC Bold"/>
              </a:rPr>
              <a:t>GOAI 世界人工智能开源大赛 · 无界应用赛道 · AI+教育</a:t>
            </a:r>
            <a:endParaRPr sz="1950">
              <a:solidFill>
                <a:srgbClr val="FF9F5A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1066800" y="2552700"/>
            <a:ext cx="3505200" cy="2000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380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知教</a:t>
            </a:r>
            <a:endParaRPr sz="13800">
              <a:solidFill>
                <a:srgbClr val="FFFFFF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" name="Rectangle"/>
          <p:cNvSpPr>
            <a:spLocks noGrp="1"/>
          </p:cNvSpPr>
          <p:nvPr/>
        </p:nvSpPr>
        <p:spPr>
          <a:xfrm>
            <a:off x="1181100" y="4953000"/>
            <a:ext cx="1238250" cy="57150"/>
          </a:xfrm>
          <a:prstGeom prst="roundRect">
            <a:avLst>
              <a:gd name="adj" fmla="val 50000"/>
            </a:avLst>
          </a:prstGeom>
          <a:solidFill>
            <a:srgbClr val="FF9F5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"/>
          <p:cNvSpPr>
            <a:spLocks noGrp="1"/>
          </p:cNvSpPr>
          <p:nvPr/>
        </p:nvSpPr>
        <p:spPr>
          <a:xfrm>
            <a:off x="1143000" y="5219700"/>
            <a:ext cx="7933849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405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AI 教育闭环辅导智能体</a:t>
            </a:r>
            <a:endParaRPr sz="4050">
              <a:solidFill>
                <a:srgbClr val="FFFFFF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8" name="TextBox"/>
          <p:cNvSpPr>
            <a:spLocks noGrp="1"/>
          </p:cNvSpPr>
          <p:nvPr/>
        </p:nvSpPr>
        <p:spPr>
          <a:xfrm>
            <a:off x="1143000" y="6115050"/>
            <a:ext cx="45720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400">
                <a:solidFill>
                  <a:srgbClr val="C5CEF0"/>
                </a:solidFill>
                <a:latin typeface="Sarasa Gothic SC"/>
                <a:ea typeface="Sarasa Gothic SC"/>
                <a:cs typeface="Sarasa Gothic SC"/>
              </a:rPr>
              <a:t>面向</a:t>
            </a:r>
            <a:r>
              <a:rPr lang="zh-CN" sz="2400">
                <a:solidFill>
                  <a:srgbClr val="C5CEF0"/>
                </a:solidFill>
                <a:latin typeface="Sarasa Gothic SC"/>
                <a:ea typeface="Sarasa Gothic SC"/>
                <a:cs typeface="Sarasa Gothic SC"/>
              </a:rPr>
              <a:t>中小学</a:t>
            </a:r>
            <a:r>
              <a:rPr sz="2400">
                <a:solidFill>
                  <a:srgbClr val="C5CEF0"/>
                </a:solidFill>
                <a:latin typeface="Sarasa Gothic SC"/>
                <a:ea typeface="Sarasa Gothic SC"/>
                <a:cs typeface="Sarasa Gothic SC"/>
              </a:rPr>
              <a:t>生：先追问，再讲解，再验证</a:t>
            </a:r>
            <a:endParaRPr sz="2400">
              <a:solidFill>
                <a:srgbClr val="C5CEF0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9" name="Rectangle"/>
          <p:cNvSpPr>
            <a:spLocks noGrp="1"/>
          </p:cNvSpPr>
          <p:nvPr/>
        </p:nvSpPr>
        <p:spPr>
          <a:xfrm>
            <a:off x="1143000" y="8172450"/>
            <a:ext cx="3619500" cy="8001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lipse"/>
          <p:cNvSpPr>
            <a:spLocks noGrp="1"/>
          </p:cNvSpPr>
          <p:nvPr/>
        </p:nvSpPr>
        <p:spPr>
          <a:xfrm>
            <a:off x="1371600" y="8382000"/>
            <a:ext cx="381000" cy="381000"/>
          </a:xfrm>
          <a:prstGeom prst="ellipse">
            <a:avLst/>
          </a:prstGeom>
          <a:solidFill>
            <a:srgbClr val="FF9F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"/>
          <p:cNvSpPr>
            <a:spLocks noGrp="1"/>
          </p:cNvSpPr>
          <p:nvPr/>
        </p:nvSpPr>
        <p:spPr>
          <a:xfrm>
            <a:off x="1905000" y="8172450"/>
            <a:ext cx="18669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先追问，再讲解</a:t>
            </a:r>
            <a:endParaRPr sz="2100">
              <a:solidFill>
                <a:srgbClr val="FFFFFF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2" name="Rectangle"/>
          <p:cNvSpPr>
            <a:spLocks noGrp="1"/>
          </p:cNvSpPr>
          <p:nvPr/>
        </p:nvSpPr>
        <p:spPr>
          <a:xfrm>
            <a:off x="4953000" y="8172450"/>
            <a:ext cx="3619500" cy="8001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lipse"/>
          <p:cNvSpPr>
            <a:spLocks noGrp="1"/>
          </p:cNvSpPr>
          <p:nvPr/>
        </p:nvSpPr>
        <p:spPr>
          <a:xfrm>
            <a:off x="5181600" y="8382000"/>
            <a:ext cx="381000" cy="381000"/>
          </a:xfrm>
          <a:prstGeom prst="ellipse">
            <a:avLst/>
          </a:prstGeom>
          <a:solidFill>
            <a:srgbClr val="FF9F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"/>
          <p:cNvSpPr>
            <a:spLocks noGrp="1"/>
          </p:cNvSpPr>
          <p:nvPr/>
        </p:nvSpPr>
        <p:spPr>
          <a:xfrm>
            <a:off x="5715000" y="8172450"/>
            <a:ext cx="21336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能验证，才叫学会</a:t>
            </a:r>
            <a:endParaRPr sz="2100">
              <a:solidFill>
                <a:srgbClr val="FFFFFF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5" name="Rectangle"/>
          <p:cNvSpPr>
            <a:spLocks noGrp="1"/>
          </p:cNvSpPr>
          <p:nvPr/>
        </p:nvSpPr>
        <p:spPr>
          <a:xfrm>
            <a:off x="8763000" y="8172450"/>
            <a:ext cx="3619500" cy="8001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lipse"/>
          <p:cNvSpPr>
            <a:spLocks noGrp="1"/>
          </p:cNvSpPr>
          <p:nvPr/>
        </p:nvSpPr>
        <p:spPr>
          <a:xfrm>
            <a:off x="8991600" y="8382000"/>
            <a:ext cx="381000" cy="381000"/>
          </a:xfrm>
          <a:prstGeom prst="ellipse">
            <a:avLst/>
          </a:prstGeom>
          <a:solidFill>
            <a:srgbClr val="FF9F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"/>
          <p:cNvSpPr>
            <a:spLocks noGrp="1"/>
          </p:cNvSpPr>
          <p:nvPr/>
        </p:nvSpPr>
        <p:spPr>
          <a:xfrm>
            <a:off x="9525000" y="8172450"/>
            <a:ext cx="18669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不替代教师判断</a:t>
            </a:r>
            <a:endParaRPr sz="2100">
              <a:solidFill>
                <a:srgbClr val="FFFFFF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8" name="TextBox"/>
          <p:cNvSpPr>
            <a:spLocks noGrp="1"/>
          </p:cNvSpPr>
          <p:nvPr/>
        </p:nvSpPr>
        <p:spPr>
          <a:xfrm>
            <a:off x="1143000" y="9429750"/>
            <a:ext cx="603210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B96C9"/>
                </a:solidFill>
                <a:latin typeface="Sarasa Gothic SC"/>
                <a:ea typeface="Sarasa Gothic SC"/>
                <a:cs typeface="Sarasa Gothic SC"/>
              </a:rPr>
              <a:t>离线演示可复现 · 实时模型可接入</a:t>
            </a:r>
            <a:endParaRPr sz="1650">
              <a:solidFill>
                <a:srgbClr val="8B96C9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lipse"/>
          <p:cNvSpPr>
            <a:spLocks noGrp="1"/>
          </p:cNvSpPr>
          <p:nvPr/>
        </p:nvSpPr>
        <p:spPr>
          <a:xfrm>
            <a:off x="15240000" y="-1238250"/>
            <a:ext cx="4953000" cy="4953000"/>
          </a:xfrm>
          <a:prstGeom prst="ellipse">
            <a:avLst/>
          </a:prstGeom>
          <a:solidFill>
            <a:srgbClr val="2A3A8F">
              <a:alpha val="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angle"/>
          <p:cNvSpPr>
            <a:spLocks noGrp="1"/>
          </p:cNvSpPr>
          <p:nvPr/>
        </p:nvSpPr>
        <p:spPr>
          <a:xfrm>
            <a:off x="952500" y="22098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952500" y="876300"/>
            <a:ext cx="2437372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· PAIN POINTS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952500" y="1333500"/>
            <a:ext cx="939165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435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学生需要的是学会，不是多一个答案</a:t>
            </a:r>
            <a:endParaRPr sz="435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" name="Rectangle"/>
          <p:cNvSpPr>
            <a:spLocks noGrp="1"/>
          </p:cNvSpPr>
          <p:nvPr/>
        </p:nvSpPr>
        <p:spPr>
          <a:xfrm>
            <a:off x="952500" y="3048000"/>
            <a:ext cx="5210175" cy="6096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Ellipse"/>
          <p:cNvSpPr>
            <a:spLocks noGrp="1"/>
          </p:cNvSpPr>
          <p:nvPr/>
        </p:nvSpPr>
        <p:spPr>
          <a:xfrm>
            <a:off x="1333500" y="3429000"/>
            <a:ext cx="609600" cy="6096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Box"/>
          <p:cNvSpPr>
            <a:spLocks noGrp="1"/>
          </p:cNvSpPr>
          <p:nvPr/>
        </p:nvSpPr>
        <p:spPr>
          <a:xfrm>
            <a:off x="1333500" y="4305300"/>
            <a:ext cx="24384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40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给答案，不给方法</a:t>
            </a:r>
            <a:endParaRPr sz="240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1333500" y="5257800"/>
            <a:ext cx="4210050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搜题工具一秒出结果，但相似题仍不会做。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1" name="Rectangle"/>
          <p:cNvSpPr>
            <a:spLocks noGrp="1"/>
          </p:cNvSpPr>
          <p:nvPr/>
        </p:nvSpPr>
        <p:spPr>
          <a:xfrm>
            <a:off x="1333500" y="6858000"/>
            <a:ext cx="4448175" cy="1714500"/>
          </a:xfrm>
          <a:prstGeom prst="roundRect">
            <a:avLst>
              <a:gd name="adj" fmla="val 8888"/>
            </a:avLst>
          </a:prstGeom>
          <a:solidFill>
            <a:srgbClr val="2A3A8F">
              <a:alpha val="6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extBox"/>
          <p:cNvSpPr>
            <a:spLocks noGrp="1"/>
          </p:cNvSpPr>
          <p:nvPr/>
        </p:nvSpPr>
        <p:spPr>
          <a:xfrm>
            <a:off x="1562100" y="7124700"/>
            <a:ext cx="3990975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725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结论 ≠ 理解</a:t>
            </a:r>
            <a:endParaRPr sz="1725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3" name="Rectangle"/>
          <p:cNvSpPr>
            <a:spLocks noGrp="1"/>
          </p:cNvSpPr>
          <p:nvPr/>
        </p:nvSpPr>
        <p:spPr>
          <a:xfrm>
            <a:off x="6543675" y="3048000"/>
            <a:ext cx="5210175" cy="6096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Ellipse"/>
          <p:cNvSpPr>
            <a:spLocks noGrp="1"/>
          </p:cNvSpPr>
          <p:nvPr/>
        </p:nvSpPr>
        <p:spPr>
          <a:xfrm>
            <a:off x="6924675" y="3429000"/>
            <a:ext cx="609600" cy="6096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TextBox"/>
          <p:cNvSpPr>
            <a:spLocks noGrp="1"/>
          </p:cNvSpPr>
          <p:nvPr/>
        </p:nvSpPr>
        <p:spPr>
          <a:xfrm>
            <a:off x="6924675" y="4305300"/>
            <a:ext cx="24384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40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卡点了，没人引导</a:t>
            </a:r>
            <a:endParaRPr sz="240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6" name="TextBox"/>
          <p:cNvSpPr>
            <a:spLocks noGrp="1"/>
          </p:cNvSpPr>
          <p:nvPr/>
        </p:nvSpPr>
        <p:spPr>
          <a:xfrm>
            <a:off x="6924675" y="5257800"/>
            <a:ext cx="3962400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学生卡在“为什么”，却没人追问具体哪一步。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7" name="Rectangle"/>
          <p:cNvSpPr>
            <a:spLocks noGrp="1"/>
          </p:cNvSpPr>
          <p:nvPr/>
        </p:nvSpPr>
        <p:spPr>
          <a:xfrm>
            <a:off x="6924675" y="6858000"/>
            <a:ext cx="4448175" cy="1714500"/>
          </a:xfrm>
          <a:prstGeom prst="roundRect">
            <a:avLst>
              <a:gd name="adj" fmla="val 8888"/>
            </a:avLst>
          </a:prstGeom>
          <a:solidFill>
            <a:srgbClr val="2A3A8F">
              <a:alpha val="6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TextBox"/>
          <p:cNvSpPr>
            <a:spLocks noGrp="1"/>
          </p:cNvSpPr>
          <p:nvPr/>
        </p:nvSpPr>
        <p:spPr>
          <a:xfrm>
            <a:off x="7153275" y="7124700"/>
            <a:ext cx="3990975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725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学生：斜率变大，图像为什么更陡？</a:t>
            </a:r>
            <a:endParaRPr sz="1725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  <a:p>
            <a:r>
              <a:rPr sz="1725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工具：直接给出结论。</a:t>
            </a:r>
            <a:endParaRPr sz="1725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9" name="Rectangle"/>
          <p:cNvSpPr>
            <a:spLocks noGrp="1"/>
          </p:cNvSpPr>
          <p:nvPr/>
        </p:nvSpPr>
        <p:spPr>
          <a:xfrm>
            <a:off x="12134850" y="3048000"/>
            <a:ext cx="5210175" cy="6096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0" name="Ellipse"/>
          <p:cNvSpPr>
            <a:spLocks noGrp="1"/>
          </p:cNvSpPr>
          <p:nvPr/>
        </p:nvSpPr>
        <p:spPr>
          <a:xfrm>
            <a:off x="12515850" y="3429000"/>
            <a:ext cx="609600" cy="6096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1" name="TextBox"/>
          <p:cNvSpPr>
            <a:spLocks noGrp="1"/>
          </p:cNvSpPr>
          <p:nvPr/>
        </p:nvSpPr>
        <p:spPr>
          <a:xfrm>
            <a:off x="12515850" y="4305300"/>
            <a:ext cx="27432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40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讲完就走，不留痕迹</a:t>
            </a:r>
            <a:endParaRPr sz="240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2" name="TextBox"/>
          <p:cNvSpPr>
            <a:spLocks noGrp="1"/>
          </p:cNvSpPr>
          <p:nvPr/>
        </p:nvSpPr>
        <p:spPr>
          <a:xfrm>
            <a:off x="12515850" y="5257800"/>
            <a:ext cx="4210050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单次对话用完即弃，下一次还要从零解释。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3" name="Rectangle"/>
          <p:cNvSpPr>
            <a:spLocks noGrp="1"/>
          </p:cNvSpPr>
          <p:nvPr/>
        </p:nvSpPr>
        <p:spPr>
          <a:xfrm>
            <a:off x="12515850" y="6858000"/>
            <a:ext cx="4448175" cy="1714500"/>
          </a:xfrm>
          <a:prstGeom prst="roundRect">
            <a:avLst>
              <a:gd name="adj" fmla="val 8888"/>
            </a:avLst>
          </a:prstGeom>
          <a:solidFill>
            <a:srgbClr val="2A3A8F">
              <a:alpha val="6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4" name="TextBox"/>
          <p:cNvSpPr>
            <a:spLocks noGrp="1"/>
          </p:cNvSpPr>
          <p:nvPr/>
        </p:nvSpPr>
        <p:spPr>
          <a:xfrm>
            <a:off x="12744450" y="7124700"/>
            <a:ext cx="3990975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725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学生：我知道结论，但说不清原因。</a:t>
            </a:r>
            <a:endParaRPr sz="1725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  <a:p>
            <a:r>
              <a:rPr sz="1725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对话没有继续。</a:t>
            </a:r>
            <a:endParaRPr sz="1725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5" name="TextBox"/>
          <p:cNvSpPr>
            <a:spLocks noGrp="1"/>
          </p:cNvSpPr>
          <p:nvPr/>
        </p:nvSpPr>
        <p:spPr>
          <a:xfrm>
            <a:off x="16667455" y="9620250"/>
            <a:ext cx="66804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02 / 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Rectangle"/>
          <p:cNvSpPr>
            <a:spLocks noGrp="1"/>
          </p:cNvSpPr>
          <p:nvPr/>
        </p:nvSpPr>
        <p:spPr>
          <a:xfrm>
            <a:off x="1685925" y="3352800"/>
            <a:ext cx="10172700" cy="38100"/>
          </a:xfrm>
          <a:prstGeom prst="roundRect">
            <a:avLst>
              <a:gd name="adj" fmla="val 50000"/>
            </a:avLst>
          </a:prstGeom>
          <a:solidFill>
            <a:srgbClr val="2A3A8F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>
            <a:spLocks noGrp="1"/>
          </p:cNvSpPr>
          <p:nvPr/>
        </p:nvSpPr>
        <p:spPr>
          <a:xfrm>
            <a:off x="952500" y="857250"/>
            <a:ext cx="2599334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· CLOSED LOOP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952500" y="131445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405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知教把一次问答，变成一次学习闭环</a:t>
            </a:r>
            <a:endParaRPr sz="405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6" name="Rectangle"/>
          <p:cNvSpPr>
            <a:spLocks noGrp="1"/>
          </p:cNvSpPr>
          <p:nvPr/>
        </p:nvSpPr>
        <p:spPr>
          <a:xfrm>
            <a:off x="952500" y="21717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lipse"/>
          <p:cNvSpPr>
            <a:spLocks noGrp="1"/>
          </p:cNvSpPr>
          <p:nvPr/>
        </p:nvSpPr>
        <p:spPr>
          <a:xfrm>
            <a:off x="1419225" y="3143250"/>
            <a:ext cx="533400" cy="533400"/>
          </a:xfrm>
          <a:prstGeom prst="ellipse">
            <a:avLst/>
          </a:prstGeom>
          <a:solidFill>
            <a:srgbClr val="2A3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Box"/>
          <p:cNvSpPr>
            <a:spLocks noGrp="1"/>
          </p:cNvSpPr>
          <p:nvPr/>
        </p:nvSpPr>
        <p:spPr>
          <a:xfrm>
            <a:off x="1266825" y="38290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学生输入</a:t>
            </a:r>
            <a:endParaRPr sz="165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9" name="Ellipse"/>
          <p:cNvSpPr>
            <a:spLocks noGrp="1"/>
          </p:cNvSpPr>
          <p:nvPr/>
        </p:nvSpPr>
        <p:spPr>
          <a:xfrm>
            <a:off x="3114675" y="3143250"/>
            <a:ext cx="533400" cy="533400"/>
          </a:xfrm>
          <a:prstGeom prst="ellipse">
            <a:avLst/>
          </a:prstGeom>
          <a:solidFill>
            <a:srgbClr val="2A3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2962275" y="38290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问题解析</a:t>
            </a:r>
            <a:endParaRPr sz="165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1" name="Ellipse"/>
          <p:cNvSpPr>
            <a:spLocks noGrp="1"/>
          </p:cNvSpPr>
          <p:nvPr/>
        </p:nvSpPr>
        <p:spPr>
          <a:xfrm>
            <a:off x="4810125" y="3143250"/>
            <a:ext cx="533400" cy="533400"/>
          </a:xfrm>
          <a:prstGeom prst="ellipse">
            <a:avLst/>
          </a:prstGeom>
          <a:solidFill>
            <a:srgbClr val="2A3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"/>
          <p:cNvSpPr>
            <a:spLocks noGrp="1"/>
          </p:cNvSpPr>
          <p:nvPr/>
        </p:nvSpPr>
        <p:spPr>
          <a:xfrm>
            <a:off x="4657725" y="38290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状态推断</a:t>
            </a:r>
            <a:endParaRPr sz="165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3" name="Ellipse"/>
          <p:cNvSpPr>
            <a:spLocks noGrp="1"/>
          </p:cNvSpPr>
          <p:nvPr/>
        </p:nvSpPr>
        <p:spPr>
          <a:xfrm>
            <a:off x="6505575" y="3143250"/>
            <a:ext cx="533400" cy="533400"/>
          </a:xfrm>
          <a:prstGeom prst="ellipse">
            <a:avLst/>
          </a:prstGeom>
          <a:solidFill>
            <a:srgbClr val="2A3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"/>
          <p:cNvSpPr>
            <a:spLocks noGrp="1"/>
          </p:cNvSpPr>
          <p:nvPr/>
        </p:nvSpPr>
        <p:spPr>
          <a:xfrm>
            <a:off x="6353175" y="38290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策略匹配</a:t>
            </a:r>
            <a:endParaRPr sz="165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5" name="Ellipse"/>
          <p:cNvSpPr>
            <a:spLocks noGrp="1"/>
          </p:cNvSpPr>
          <p:nvPr/>
        </p:nvSpPr>
        <p:spPr>
          <a:xfrm>
            <a:off x="8201025" y="3143250"/>
            <a:ext cx="533400" cy="533400"/>
          </a:xfrm>
          <a:prstGeom prst="ellipse">
            <a:avLst/>
          </a:prstGeom>
          <a:solidFill>
            <a:srgbClr val="2A3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"/>
          <p:cNvSpPr>
            <a:spLocks noGrp="1"/>
          </p:cNvSpPr>
          <p:nvPr/>
        </p:nvSpPr>
        <p:spPr>
          <a:xfrm>
            <a:off x="8048625" y="38290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互动教学</a:t>
            </a:r>
            <a:endParaRPr sz="165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7" name="Ellipse"/>
          <p:cNvSpPr>
            <a:spLocks noGrp="1"/>
          </p:cNvSpPr>
          <p:nvPr/>
        </p:nvSpPr>
        <p:spPr>
          <a:xfrm>
            <a:off x="9896475" y="3143250"/>
            <a:ext cx="533400" cy="533400"/>
          </a:xfrm>
          <a:prstGeom prst="ellipse">
            <a:avLst/>
          </a:prstGeom>
          <a:solidFill>
            <a:srgbClr val="2A3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Box"/>
          <p:cNvSpPr>
            <a:spLocks noGrp="1"/>
          </p:cNvSpPr>
          <p:nvPr/>
        </p:nvSpPr>
        <p:spPr>
          <a:xfrm>
            <a:off x="9744075" y="38290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变式验证</a:t>
            </a:r>
            <a:endParaRPr sz="165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9" name="Ellipse"/>
          <p:cNvSpPr>
            <a:spLocks noGrp="1"/>
          </p:cNvSpPr>
          <p:nvPr/>
        </p:nvSpPr>
        <p:spPr>
          <a:xfrm>
            <a:off x="11591925" y="3143250"/>
            <a:ext cx="533400" cy="5334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"/>
          <p:cNvSpPr>
            <a:spLocks noGrp="1"/>
          </p:cNvSpPr>
          <p:nvPr/>
        </p:nvSpPr>
        <p:spPr>
          <a:xfrm>
            <a:off x="11439525" y="38290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FF8A3D"/>
                </a:solidFill>
                <a:latin typeface="Source Han Sans CN Bold"/>
                <a:ea typeface="Source Han Sans CN Bold"/>
                <a:cs typeface="Source Han Sans CN Bold"/>
              </a:rPr>
              <a:t>画像更新</a:t>
            </a:r>
            <a:endParaRPr sz="1650">
              <a:solidFill>
                <a:srgbClr val="FF8A3D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1" name="TextBox"/>
          <p:cNvSpPr>
            <a:spLocks noGrp="1"/>
          </p:cNvSpPr>
          <p:nvPr/>
        </p:nvSpPr>
        <p:spPr>
          <a:xfrm>
            <a:off x="6336563" y="4362450"/>
            <a:ext cx="5614874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→ 先定位，再教</a:t>
            </a:r>
            <a:endParaRPr sz="180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2" name="Rectangle"/>
          <p:cNvSpPr>
            <a:spLocks noGrp="1"/>
          </p:cNvSpPr>
          <p:nvPr/>
        </p:nvSpPr>
        <p:spPr>
          <a:xfrm>
            <a:off x="952500" y="4619625"/>
            <a:ext cx="16383000" cy="500062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3" name="TextBox"/>
          <p:cNvSpPr>
            <a:spLocks noGrp="1"/>
          </p:cNvSpPr>
          <p:nvPr/>
        </p:nvSpPr>
        <p:spPr>
          <a:xfrm>
            <a:off x="1333500" y="4886325"/>
            <a:ext cx="355873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示例闭环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4" name="Rectangle"/>
          <p:cNvSpPr>
            <a:spLocks noGrp="1"/>
          </p:cNvSpPr>
          <p:nvPr/>
        </p:nvSpPr>
        <p:spPr>
          <a:xfrm>
            <a:off x="13335000" y="4867275"/>
            <a:ext cx="3619500" cy="419100"/>
          </a:xfrm>
          <a:prstGeom prst="roundRect">
            <a:avLst>
              <a:gd name="adj" fmla="val 50000"/>
            </a:avLst>
          </a:prstGeom>
          <a:solidFill>
            <a:srgbClr val="FF8A3D">
              <a:alpha val="12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5" name="TextBox"/>
          <p:cNvSpPr>
            <a:spLocks noGrp="1"/>
          </p:cNvSpPr>
          <p:nvPr/>
        </p:nvSpPr>
        <p:spPr>
          <a:xfrm>
            <a:off x="14294082" y="4867275"/>
            <a:ext cx="1701336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闭环完成</a:t>
            </a:r>
            <a:endParaRPr sz="165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6" name="Rectangle"/>
          <p:cNvSpPr>
            <a:spLocks noGrp="1"/>
          </p:cNvSpPr>
          <p:nvPr/>
        </p:nvSpPr>
        <p:spPr>
          <a:xfrm>
            <a:off x="1333500" y="5495925"/>
            <a:ext cx="7429500" cy="533400"/>
          </a:xfrm>
          <a:prstGeom prst="roundRect">
            <a:avLst>
              <a:gd name="adj" fmla="val 25000"/>
            </a:avLst>
          </a:prstGeom>
          <a:solidFill>
            <a:srgbClr val="EDF0F8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7" name="TextBox"/>
          <p:cNvSpPr>
            <a:spLocks noGrp="1"/>
          </p:cNvSpPr>
          <p:nvPr/>
        </p:nvSpPr>
        <p:spPr>
          <a:xfrm>
            <a:off x="1485900" y="5495925"/>
            <a:ext cx="46101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学生：我不明白为什么斜率变大，图像就会变陡。</a:t>
            </a:r>
            <a:endParaRPr sz="16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8" name="Rectangle"/>
          <p:cNvSpPr>
            <a:spLocks noGrp="1"/>
          </p:cNvSpPr>
          <p:nvPr/>
        </p:nvSpPr>
        <p:spPr>
          <a:xfrm>
            <a:off x="9525000" y="6143625"/>
            <a:ext cx="7429500" cy="533400"/>
          </a:xfrm>
          <a:prstGeom prst="roundRect">
            <a:avLst>
              <a:gd name="adj" fmla="val 25000"/>
            </a:avLst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9" name="TextBox"/>
          <p:cNvSpPr>
            <a:spLocks noGrp="1"/>
          </p:cNvSpPr>
          <p:nvPr/>
        </p:nvSpPr>
        <p:spPr>
          <a:xfrm>
            <a:off x="9677399" y="6143625"/>
            <a:ext cx="568111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诊断：概念混淆</a:t>
            </a:r>
            <a:endParaRPr sz="165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0" name="Rectangle"/>
          <p:cNvSpPr>
            <a:spLocks noGrp="1"/>
          </p:cNvSpPr>
          <p:nvPr/>
        </p:nvSpPr>
        <p:spPr>
          <a:xfrm>
            <a:off x="1333500" y="6791325"/>
            <a:ext cx="7429500" cy="533400"/>
          </a:xfrm>
          <a:prstGeom prst="roundRect">
            <a:avLst>
              <a:gd name="adj" fmla="val 25000"/>
            </a:avLst>
          </a:prstGeom>
          <a:solidFill>
            <a:srgbClr val="EDF0F8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1" name="TextBox"/>
          <p:cNvSpPr>
            <a:spLocks noGrp="1"/>
          </p:cNvSpPr>
          <p:nvPr/>
        </p:nvSpPr>
        <p:spPr>
          <a:xfrm>
            <a:off x="1485900" y="6791325"/>
            <a:ext cx="4574477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教学：图示 + 追问</a:t>
            </a:r>
            <a:endParaRPr sz="16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2" name="Rectangle"/>
          <p:cNvSpPr>
            <a:spLocks noGrp="1"/>
          </p:cNvSpPr>
          <p:nvPr/>
        </p:nvSpPr>
        <p:spPr>
          <a:xfrm>
            <a:off x="9525000" y="7439025"/>
            <a:ext cx="7429500" cy="533400"/>
          </a:xfrm>
          <a:prstGeom prst="roundRect">
            <a:avLst>
              <a:gd name="adj" fmla="val 25000"/>
            </a:avLst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3" name="TextBox"/>
          <p:cNvSpPr>
            <a:spLocks noGrp="1"/>
          </p:cNvSpPr>
          <p:nvPr/>
        </p:nvSpPr>
        <p:spPr>
          <a:xfrm>
            <a:off x="9677400" y="7439025"/>
            <a:ext cx="67056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验证：迁移题</a:t>
            </a:r>
            <a:endParaRPr sz="165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4" name="Rectangle"/>
          <p:cNvSpPr>
            <a:spLocks noGrp="1"/>
          </p:cNvSpPr>
          <p:nvPr/>
        </p:nvSpPr>
        <p:spPr>
          <a:xfrm>
            <a:off x="1333500" y="8086725"/>
            <a:ext cx="7429500" cy="533400"/>
          </a:xfrm>
          <a:prstGeom prst="roundRect">
            <a:avLst>
              <a:gd name="adj" fmla="val 25000"/>
            </a:avLst>
          </a:prstGeom>
          <a:solidFill>
            <a:srgbClr val="EDF0F8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5" name="TextBox"/>
          <p:cNvSpPr>
            <a:spLocks noGrp="1"/>
          </p:cNvSpPr>
          <p:nvPr/>
        </p:nvSpPr>
        <p:spPr>
          <a:xfrm>
            <a:off x="1485900" y="8086725"/>
            <a:ext cx="3736277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画像：待验证 → 初步掌握</a:t>
            </a:r>
            <a:endParaRPr sz="16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6" name="Rectangle"/>
          <p:cNvSpPr>
            <a:spLocks noGrp="1"/>
          </p:cNvSpPr>
          <p:nvPr/>
        </p:nvSpPr>
        <p:spPr>
          <a:xfrm>
            <a:off x="9525000" y="8620125"/>
            <a:ext cx="7429500" cy="685800"/>
          </a:xfrm>
          <a:prstGeom prst="roundRect">
            <a:avLst>
              <a:gd name="adj" fmla="val 19444"/>
            </a:avLst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7" name="TextBox"/>
          <p:cNvSpPr>
            <a:spLocks noGrp="1"/>
          </p:cNvSpPr>
          <p:nvPr/>
        </p:nvSpPr>
        <p:spPr>
          <a:xfrm>
            <a:off x="9677399" y="8620125"/>
            <a:ext cx="6896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sz="165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完成后：输出证据摘要，写入学习背景</a:t>
            </a:r>
            <a:endParaRPr sz="165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8" name="TextBox"/>
          <p:cNvSpPr>
            <a:spLocks noGrp="1"/>
          </p:cNvSpPr>
          <p:nvPr/>
        </p:nvSpPr>
        <p:spPr>
          <a:xfrm>
            <a:off x="16665778" y="9620250"/>
            <a:ext cx="66972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03 / 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lipse"/>
          <p:cNvSpPr>
            <a:spLocks noGrp="1"/>
          </p:cNvSpPr>
          <p:nvPr/>
        </p:nvSpPr>
        <p:spPr>
          <a:xfrm>
            <a:off x="15240000" y="-1238250"/>
            <a:ext cx="4953000" cy="4953000"/>
          </a:xfrm>
          <a:prstGeom prst="ellipse">
            <a:avLst/>
          </a:prstGeom>
          <a:solidFill>
            <a:srgbClr val="2A3A8F">
              <a:alpha val="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angle"/>
          <p:cNvSpPr>
            <a:spLocks noGrp="1"/>
          </p:cNvSpPr>
          <p:nvPr/>
        </p:nvSpPr>
        <p:spPr>
          <a:xfrm>
            <a:off x="952500" y="22098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952500" y="876300"/>
            <a:ext cx="350003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· PERSONALIZED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952500" y="1333500"/>
            <a:ext cx="771525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405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同一问题，根据理解程度改变教法</a:t>
            </a:r>
            <a:endParaRPr sz="405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" name="Rectangle"/>
          <p:cNvSpPr>
            <a:spLocks noGrp="1"/>
          </p:cNvSpPr>
          <p:nvPr/>
        </p:nvSpPr>
        <p:spPr>
          <a:xfrm>
            <a:off x="952500" y="2857500"/>
            <a:ext cx="5210175" cy="5334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TextBox"/>
          <p:cNvSpPr>
            <a:spLocks noGrp="1"/>
          </p:cNvSpPr>
          <p:nvPr/>
        </p:nvSpPr>
        <p:spPr>
          <a:xfrm>
            <a:off x="1333500" y="3276600"/>
            <a:ext cx="17145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还不理解概念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9" name="Rectangle"/>
          <p:cNvSpPr>
            <a:spLocks noGrp="1"/>
          </p:cNvSpPr>
          <p:nvPr/>
        </p:nvSpPr>
        <p:spPr>
          <a:xfrm>
            <a:off x="1333500" y="3848100"/>
            <a:ext cx="1905000" cy="361950"/>
          </a:xfrm>
          <a:prstGeom prst="roundRect">
            <a:avLst>
              <a:gd name="adj" fmla="val 50000"/>
            </a:avLst>
          </a:prstGeom>
          <a:solidFill>
            <a:srgbClr val="FF8A3D">
              <a:alpha val="12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1669352" y="3848100"/>
            <a:ext cx="123329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50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策略</a:t>
            </a:r>
            <a:endParaRPr sz="150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1" name="Ellipse"/>
          <p:cNvSpPr>
            <a:spLocks noGrp="1"/>
          </p:cNvSpPr>
          <p:nvPr/>
        </p:nvSpPr>
        <p:spPr>
          <a:xfrm>
            <a:off x="1333500" y="4476750"/>
            <a:ext cx="419100" cy="4191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extBox"/>
          <p:cNvSpPr>
            <a:spLocks noGrp="1"/>
          </p:cNvSpPr>
          <p:nvPr/>
        </p:nvSpPr>
        <p:spPr>
          <a:xfrm>
            <a:off x="1905000" y="4476750"/>
            <a:ext cx="19812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先用具体例子解释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3" name="Ellipse"/>
          <p:cNvSpPr>
            <a:spLocks noGrp="1"/>
          </p:cNvSpPr>
          <p:nvPr/>
        </p:nvSpPr>
        <p:spPr>
          <a:xfrm>
            <a:off x="1333500" y="5429250"/>
            <a:ext cx="419100" cy="4191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TextBox"/>
          <p:cNvSpPr>
            <a:spLocks noGrp="1"/>
          </p:cNvSpPr>
          <p:nvPr/>
        </p:nvSpPr>
        <p:spPr>
          <a:xfrm>
            <a:off x="1905000" y="5429250"/>
            <a:ext cx="19812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再让学生自己观察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5" name="Ellipse"/>
          <p:cNvSpPr>
            <a:spLocks noGrp="1"/>
          </p:cNvSpPr>
          <p:nvPr/>
        </p:nvSpPr>
        <p:spPr>
          <a:xfrm>
            <a:off x="1333500" y="6381750"/>
            <a:ext cx="419100" cy="4191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6" name="TextBox"/>
          <p:cNvSpPr>
            <a:spLocks noGrp="1"/>
          </p:cNvSpPr>
          <p:nvPr/>
        </p:nvSpPr>
        <p:spPr>
          <a:xfrm>
            <a:off x="1905000" y="6381750"/>
            <a:ext cx="17335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不直接公布答案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7" name="Rectangle"/>
          <p:cNvSpPr>
            <a:spLocks noGrp="1"/>
          </p:cNvSpPr>
          <p:nvPr/>
        </p:nvSpPr>
        <p:spPr>
          <a:xfrm>
            <a:off x="6543675" y="2857500"/>
            <a:ext cx="5210175" cy="5334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TextBox"/>
          <p:cNvSpPr>
            <a:spLocks noGrp="1"/>
          </p:cNvSpPr>
          <p:nvPr/>
        </p:nvSpPr>
        <p:spPr>
          <a:xfrm>
            <a:off x="6924675" y="3276600"/>
            <a:ext cx="22860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能观察，不会解释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9" name="Rectangle"/>
          <p:cNvSpPr>
            <a:spLocks noGrp="1"/>
          </p:cNvSpPr>
          <p:nvPr/>
        </p:nvSpPr>
        <p:spPr>
          <a:xfrm>
            <a:off x="6924675" y="3848100"/>
            <a:ext cx="1905000" cy="361950"/>
          </a:xfrm>
          <a:prstGeom prst="roundRect">
            <a:avLst>
              <a:gd name="adj" fmla="val 50000"/>
            </a:avLst>
          </a:prstGeom>
          <a:solidFill>
            <a:srgbClr val="2A3A8F">
              <a:alpha val="10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0" name="TextBox"/>
          <p:cNvSpPr>
            <a:spLocks noGrp="1"/>
          </p:cNvSpPr>
          <p:nvPr/>
        </p:nvSpPr>
        <p:spPr>
          <a:xfrm>
            <a:off x="7260527" y="3848100"/>
            <a:ext cx="123329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500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策略</a:t>
            </a:r>
            <a:endParaRPr sz="1500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1" name="Ellipse"/>
          <p:cNvSpPr>
            <a:spLocks noGrp="1"/>
          </p:cNvSpPr>
          <p:nvPr/>
        </p:nvSpPr>
        <p:spPr>
          <a:xfrm>
            <a:off x="6924675" y="4476750"/>
            <a:ext cx="419100" cy="419100"/>
          </a:xfrm>
          <a:prstGeom prst="ellipse">
            <a:avLst/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TextBox"/>
          <p:cNvSpPr>
            <a:spLocks noGrp="1"/>
          </p:cNvSpPr>
          <p:nvPr/>
        </p:nvSpPr>
        <p:spPr>
          <a:xfrm>
            <a:off x="7496175" y="4476750"/>
            <a:ext cx="17335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追问“为什么”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3" name="Ellipse"/>
          <p:cNvSpPr>
            <a:spLocks noGrp="1"/>
          </p:cNvSpPr>
          <p:nvPr/>
        </p:nvSpPr>
        <p:spPr>
          <a:xfrm>
            <a:off x="6924675" y="5429250"/>
            <a:ext cx="419100" cy="419100"/>
          </a:xfrm>
          <a:prstGeom prst="ellipse">
            <a:avLst/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4" name="TextBox"/>
          <p:cNvSpPr>
            <a:spLocks noGrp="1"/>
          </p:cNvSpPr>
          <p:nvPr/>
        </p:nvSpPr>
        <p:spPr>
          <a:xfrm>
            <a:off x="7496175" y="5429250"/>
            <a:ext cx="22288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要求用自己的话复述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5" name="Ellipse"/>
          <p:cNvSpPr>
            <a:spLocks noGrp="1"/>
          </p:cNvSpPr>
          <p:nvPr/>
        </p:nvSpPr>
        <p:spPr>
          <a:xfrm>
            <a:off x="6924675" y="6381750"/>
            <a:ext cx="419100" cy="419100"/>
          </a:xfrm>
          <a:prstGeom prst="ellipse">
            <a:avLst/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6" name="TextBox"/>
          <p:cNvSpPr>
            <a:spLocks noGrp="1"/>
          </p:cNvSpPr>
          <p:nvPr/>
        </p:nvSpPr>
        <p:spPr>
          <a:xfrm>
            <a:off x="7496175" y="6381750"/>
            <a:ext cx="17335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按回答决定继续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7" name="Rectangle"/>
          <p:cNvSpPr>
            <a:spLocks noGrp="1"/>
          </p:cNvSpPr>
          <p:nvPr/>
        </p:nvSpPr>
        <p:spPr>
          <a:xfrm>
            <a:off x="12134850" y="2857500"/>
            <a:ext cx="5210175" cy="5334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8" name="TextBox"/>
          <p:cNvSpPr>
            <a:spLocks noGrp="1"/>
          </p:cNvSpPr>
          <p:nvPr/>
        </p:nvSpPr>
        <p:spPr>
          <a:xfrm>
            <a:off x="12515850" y="3276600"/>
            <a:ext cx="1428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已初步理解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9" name="Rectangle"/>
          <p:cNvSpPr>
            <a:spLocks noGrp="1"/>
          </p:cNvSpPr>
          <p:nvPr/>
        </p:nvSpPr>
        <p:spPr>
          <a:xfrm>
            <a:off x="12515850" y="3848100"/>
            <a:ext cx="1905000" cy="361950"/>
          </a:xfrm>
          <a:prstGeom prst="roundRect">
            <a:avLst>
              <a:gd name="adj" fmla="val 50000"/>
            </a:avLst>
          </a:prstGeom>
          <a:solidFill>
            <a:srgbClr val="1FA98F">
              <a:alpha val="14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TextBox"/>
          <p:cNvSpPr>
            <a:spLocks noGrp="1"/>
          </p:cNvSpPr>
          <p:nvPr/>
        </p:nvSpPr>
        <p:spPr>
          <a:xfrm>
            <a:off x="12851702" y="3848100"/>
            <a:ext cx="123329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50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策略</a:t>
            </a:r>
            <a:endParaRPr sz="150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31" name="Ellipse"/>
          <p:cNvSpPr>
            <a:spLocks noGrp="1"/>
          </p:cNvSpPr>
          <p:nvPr/>
        </p:nvSpPr>
        <p:spPr>
          <a:xfrm>
            <a:off x="12515850" y="4476750"/>
            <a:ext cx="419100" cy="419100"/>
          </a:xfrm>
          <a:prstGeom prst="ellipse">
            <a:avLst/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2" name="TextBox"/>
          <p:cNvSpPr>
            <a:spLocks noGrp="1"/>
          </p:cNvSpPr>
          <p:nvPr/>
        </p:nvSpPr>
        <p:spPr>
          <a:xfrm>
            <a:off x="13087350" y="4476750"/>
            <a:ext cx="14859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给同类变式题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3" name="Ellipse"/>
          <p:cNvSpPr>
            <a:spLocks noGrp="1"/>
          </p:cNvSpPr>
          <p:nvPr/>
        </p:nvSpPr>
        <p:spPr>
          <a:xfrm>
            <a:off x="12515850" y="5429250"/>
            <a:ext cx="419100" cy="419100"/>
          </a:xfrm>
          <a:prstGeom prst="ellipse">
            <a:avLst/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4" name="TextBox"/>
          <p:cNvSpPr>
            <a:spLocks noGrp="1"/>
          </p:cNvSpPr>
          <p:nvPr/>
        </p:nvSpPr>
        <p:spPr>
          <a:xfrm>
            <a:off x="13087350" y="5429250"/>
            <a:ext cx="14859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再给迁移挑战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5" name="Ellipse"/>
          <p:cNvSpPr>
            <a:spLocks noGrp="1"/>
          </p:cNvSpPr>
          <p:nvPr/>
        </p:nvSpPr>
        <p:spPr>
          <a:xfrm>
            <a:off x="12515850" y="6381750"/>
            <a:ext cx="419100" cy="419100"/>
          </a:xfrm>
          <a:prstGeom prst="ellipse">
            <a:avLst/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6" name="TextBox"/>
          <p:cNvSpPr>
            <a:spLocks noGrp="1"/>
          </p:cNvSpPr>
          <p:nvPr/>
        </p:nvSpPr>
        <p:spPr>
          <a:xfrm>
            <a:off x="13087350" y="6381750"/>
            <a:ext cx="14859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写入学习画像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7" name="TextBox"/>
          <p:cNvSpPr>
            <a:spLocks noGrp="1"/>
          </p:cNvSpPr>
          <p:nvPr/>
        </p:nvSpPr>
        <p:spPr>
          <a:xfrm>
            <a:off x="5752491" y="8572500"/>
            <a:ext cx="678301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依据回答 + 互动操作 + 作答证据</a:t>
            </a:r>
            <a:endParaRPr sz="180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8" name="TextBox"/>
          <p:cNvSpPr>
            <a:spLocks noGrp="1"/>
          </p:cNvSpPr>
          <p:nvPr/>
        </p:nvSpPr>
        <p:spPr>
          <a:xfrm>
            <a:off x="16659911" y="9620250"/>
            <a:ext cx="67558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04 / 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lipse"/>
          <p:cNvSpPr>
            <a:spLocks noGrp="1"/>
          </p:cNvSpPr>
          <p:nvPr/>
        </p:nvSpPr>
        <p:spPr>
          <a:xfrm>
            <a:off x="-1143000" y="4953000"/>
            <a:ext cx="4953000" cy="4953000"/>
          </a:xfrm>
          <a:prstGeom prst="ellipse">
            <a:avLst/>
          </a:prstGeom>
          <a:solidFill>
            <a:srgbClr val="FF8A3D">
              <a:alpha val="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>
            <a:spLocks noGrp="1"/>
          </p:cNvSpPr>
          <p:nvPr/>
        </p:nvSpPr>
        <p:spPr>
          <a:xfrm>
            <a:off x="952500" y="1143000"/>
            <a:ext cx="300944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· INTERACTIVE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952500" y="1619250"/>
            <a:ext cx="64389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390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让斜率变得可操作</a:t>
            </a:r>
            <a:endParaRPr sz="390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952500" y="3429000"/>
            <a:ext cx="6492011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2100">
                <a:solidFill>
                  <a:srgbClr val="565E7A"/>
                </a:solidFill>
                <a:latin typeface="Sarasa Gothic SC"/>
                <a:ea typeface="Sarasa Gothic SC"/>
                <a:cs typeface="Sarasa Gothic SC"/>
              </a:rPr>
              <a:t>y = kx + 1：拖动 k，观察斜率变化</a:t>
            </a:r>
            <a:endParaRPr sz="2100">
              <a:solidFill>
                <a:srgbClr val="565E7A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7" name="Rectangle"/>
          <p:cNvSpPr>
            <a:spLocks noGrp="1"/>
          </p:cNvSpPr>
          <p:nvPr/>
        </p:nvSpPr>
        <p:spPr>
          <a:xfrm>
            <a:off x="952500" y="4953000"/>
            <a:ext cx="6858000" cy="1428750"/>
          </a:xfrm>
          <a:prstGeom prst="roundRect">
            <a:avLst>
              <a:gd name="adj" fmla="val 13333"/>
            </a:avLst>
          </a:prstGeom>
          <a:solidFill>
            <a:srgbClr val="FF8A3D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Box"/>
          <p:cNvSpPr>
            <a:spLocks noGrp="1"/>
          </p:cNvSpPr>
          <p:nvPr/>
        </p:nvSpPr>
        <p:spPr>
          <a:xfrm>
            <a:off x="1333500" y="518160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C25E12"/>
                </a:solidFill>
                <a:latin typeface="Sarasa Gothic SC Bold"/>
                <a:ea typeface="Sarasa Gothic SC Bold"/>
                <a:cs typeface="Sarasa Gothic SC Bold"/>
              </a:rPr>
              <a:t>知教追问</a:t>
            </a:r>
            <a:endParaRPr sz="1650">
              <a:solidFill>
                <a:srgbClr val="C25E12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9" name="TextBox"/>
          <p:cNvSpPr>
            <a:spLocks noGrp="1"/>
          </p:cNvSpPr>
          <p:nvPr/>
        </p:nvSpPr>
        <p:spPr>
          <a:xfrm>
            <a:off x="1333500" y="5543550"/>
            <a:ext cx="4588573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250">
                <a:solidFill>
                  <a:srgbClr val="2A3A8F"/>
                </a:solidFill>
                <a:latin typeface="Source Han Sans CN Bold"/>
                <a:ea typeface="Source Han Sans CN Bold"/>
                <a:cs typeface="Source Han Sans CN Bold"/>
              </a:rPr>
              <a:t>你看到图像发生了什么变化？</a:t>
            </a:r>
            <a:endParaRPr sz="2250">
              <a:solidFill>
                <a:srgbClr val="2A3A8F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952500" y="6705600"/>
            <a:ext cx="3685946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· 一次函数 · 预设演示案例</a:t>
            </a:r>
            <a:endParaRPr sz="180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1" name="Path"/>
          <p:cNvSpPr>
            <a:spLocks noGrp="1"/>
          </p:cNvSpPr>
          <p:nvPr/>
        </p:nvSpPr>
        <p:spPr>
          <a:xfrm>
            <a:off x="8763000" y="2662238"/>
            <a:ext cx="8001000" cy="9525"/>
          </a:xfrm>
          <a:custGeom>
            <a:avLst/>
            <a:gdLst/>
            <a:ahLst/>
            <a:cxnLst/>
            <a:rect l="0" t="0" r="r" b="b"/>
            <a:pathLst>
              <a:path w="8001000" h="9525">
                <a:moveTo>
                  <a:pt x="8001000" y="0"/>
                </a:moveTo>
                <a:lnTo>
                  <a:pt x="8001000" y="9525"/>
                </a:lnTo>
                <a:lnTo>
                  <a:pt x="0" y="9525"/>
                </a:lnTo>
                <a:lnTo>
                  <a:pt x="0" y="0"/>
                </a:lnTo>
                <a:lnTo>
                  <a:pt x="8001000" y="0"/>
                </a:lnTo>
                <a:close/>
              </a:path>
            </a:pathLst>
          </a:custGeom>
          <a:solidFill>
            <a:srgbClr val="D5D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ath"/>
          <p:cNvSpPr>
            <a:spLocks noGrp="1"/>
          </p:cNvSpPr>
          <p:nvPr/>
        </p:nvSpPr>
        <p:spPr>
          <a:xfrm>
            <a:off x="8763000" y="3805238"/>
            <a:ext cx="8001000" cy="9525"/>
          </a:xfrm>
          <a:custGeom>
            <a:avLst/>
            <a:gdLst/>
            <a:ahLst/>
            <a:cxnLst/>
            <a:rect l="0" t="0" r="r" b="b"/>
            <a:pathLst>
              <a:path w="8001000" h="9525">
                <a:moveTo>
                  <a:pt x="8001000" y="0"/>
                </a:moveTo>
                <a:lnTo>
                  <a:pt x="8001000" y="9525"/>
                </a:lnTo>
                <a:lnTo>
                  <a:pt x="0" y="9525"/>
                </a:lnTo>
                <a:lnTo>
                  <a:pt x="0" y="0"/>
                </a:lnTo>
                <a:lnTo>
                  <a:pt x="8001000" y="0"/>
                </a:lnTo>
                <a:close/>
              </a:path>
            </a:pathLst>
          </a:custGeom>
          <a:solidFill>
            <a:srgbClr val="D5D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th"/>
          <p:cNvSpPr>
            <a:spLocks noGrp="1"/>
          </p:cNvSpPr>
          <p:nvPr/>
        </p:nvSpPr>
        <p:spPr>
          <a:xfrm>
            <a:off x="8763000" y="6091238"/>
            <a:ext cx="8001000" cy="9525"/>
          </a:xfrm>
          <a:custGeom>
            <a:avLst/>
            <a:gdLst/>
            <a:ahLst/>
            <a:cxnLst/>
            <a:rect l="0" t="0" r="r" b="b"/>
            <a:pathLst>
              <a:path w="8001000" h="9525">
                <a:moveTo>
                  <a:pt x="8001000" y="0"/>
                </a:moveTo>
                <a:lnTo>
                  <a:pt x="8001000" y="9525"/>
                </a:lnTo>
                <a:lnTo>
                  <a:pt x="0" y="9525"/>
                </a:lnTo>
                <a:lnTo>
                  <a:pt x="0" y="0"/>
                </a:lnTo>
                <a:lnTo>
                  <a:pt x="8001000" y="0"/>
                </a:lnTo>
                <a:close/>
              </a:path>
            </a:pathLst>
          </a:custGeom>
          <a:solidFill>
            <a:srgbClr val="D5D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th"/>
          <p:cNvSpPr>
            <a:spLocks noGrp="1"/>
          </p:cNvSpPr>
          <p:nvPr/>
        </p:nvSpPr>
        <p:spPr>
          <a:xfrm>
            <a:off x="8763000" y="7234238"/>
            <a:ext cx="8001000" cy="9525"/>
          </a:xfrm>
          <a:custGeom>
            <a:avLst/>
            <a:gdLst/>
            <a:ahLst/>
            <a:cxnLst/>
            <a:rect l="0" t="0" r="r" b="b"/>
            <a:pathLst>
              <a:path w="8001000" h="9525">
                <a:moveTo>
                  <a:pt x="8001000" y="0"/>
                </a:moveTo>
                <a:lnTo>
                  <a:pt x="8001000" y="9525"/>
                </a:lnTo>
                <a:lnTo>
                  <a:pt x="0" y="9525"/>
                </a:lnTo>
                <a:lnTo>
                  <a:pt x="0" y="0"/>
                </a:lnTo>
                <a:lnTo>
                  <a:pt x="8001000" y="0"/>
                </a:lnTo>
                <a:close/>
              </a:path>
            </a:pathLst>
          </a:custGeom>
          <a:solidFill>
            <a:srgbClr val="D5D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th"/>
          <p:cNvSpPr>
            <a:spLocks noGrp="1"/>
          </p:cNvSpPr>
          <p:nvPr/>
        </p:nvSpPr>
        <p:spPr>
          <a:xfrm>
            <a:off x="9901238" y="1905000"/>
            <a:ext cx="9525" cy="6286499"/>
          </a:xfrm>
          <a:custGeom>
            <a:avLst/>
            <a:gdLst/>
            <a:ahLst/>
            <a:cxnLst/>
            <a:rect l="0" t="0" r="r" b="b"/>
            <a:pathLst>
              <a:path w="9525" h="6286500">
                <a:moveTo>
                  <a:pt x="9525" y="6286500"/>
                </a:moveTo>
                <a:lnTo>
                  <a:pt x="0" y="6286500"/>
                </a:lnTo>
                <a:lnTo>
                  <a:pt x="0" y="0"/>
                </a:lnTo>
                <a:lnTo>
                  <a:pt x="9525" y="0"/>
                </a:lnTo>
                <a:lnTo>
                  <a:pt x="9525" y="6286500"/>
                </a:lnTo>
                <a:close/>
              </a:path>
            </a:pathLst>
          </a:custGeom>
          <a:solidFill>
            <a:srgbClr val="D5D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ath"/>
          <p:cNvSpPr>
            <a:spLocks noGrp="1"/>
          </p:cNvSpPr>
          <p:nvPr/>
        </p:nvSpPr>
        <p:spPr>
          <a:xfrm>
            <a:off x="11044238" y="1905000"/>
            <a:ext cx="9525" cy="6286499"/>
          </a:xfrm>
          <a:custGeom>
            <a:avLst/>
            <a:gdLst/>
            <a:ahLst/>
            <a:cxnLst/>
            <a:rect l="0" t="0" r="r" b="b"/>
            <a:pathLst>
              <a:path w="9525" h="6286500">
                <a:moveTo>
                  <a:pt x="9525" y="6286500"/>
                </a:moveTo>
                <a:lnTo>
                  <a:pt x="0" y="6286500"/>
                </a:lnTo>
                <a:lnTo>
                  <a:pt x="0" y="0"/>
                </a:lnTo>
                <a:lnTo>
                  <a:pt x="9525" y="0"/>
                </a:lnTo>
                <a:lnTo>
                  <a:pt x="9525" y="6286500"/>
                </a:lnTo>
                <a:close/>
              </a:path>
            </a:pathLst>
          </a:custGeom>
          <a:solidFill>
            <a:srgbClr val="D5D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ath"/>
          <p:cNvSpPr>
            <a:spLocks noGrp="1"/>
          </p:cNvSpPr>
          <p:nvPr/>
        </p:nvSpPr>
        <p:spPr>
          <a:xfrm>
            <a:off x="14473238" y="1905000"/>
            <a:ext cx="9525" cy="6286499"/>
          </a:xfrm>
          <a:custGeom>
            <a:avLst/>
            <a:gdLst/>
            <a:ahLst/>
            <a:cxnLst/>
            <a:rect l="0" t="0" r="r" b="b"/>
            <a:pathLst>
              <a:path w="9525" h="6286500">
                <a:moveTo>
                  <a:pt x="9525" y="6286500"/>
                </a:moveTo>
                <a:lnTo>
                  <a:pt x="0" y="6286500"/>
                </a:lnTo>
                <a:lnTo>
                  <a:pt x="0" y="0"/>
                </a:lnTo>
                <a:lnTo>
                  <a:pt x="9525" y="0"/>
                </a:lnTo>
                <a:lnTo>
                  <a:pt x="9525" y="6286500"/>
                </a:lnTo>
                <a:close/>
              </a:path>
            </a:pathLst>
          </a:custGeom>
          <a:solidFill>
            <a:srgbClr val="D5D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th"/>
          <p:cNvSpPr>
            <a:spLocks noGrp="1"/>
          </p:cNvSpPr>
          <p:nvPr/>
        </p:nvSpPr>
        <p:spPr>
          <a:xfrm>
            <a:off x="15616238" y="1905000"/>
            <a:ext cx="9525" cy="6286499"/>
          </a:xfrm>
          <a:custGeom>
            <a:avLst/>
            <a:gdLst/>
            <a:ahLst/>
            <a:cxnLst/>
            <a:rect l="0" t="0" r="r" b="b"/>
            <a:pathLst>
              <a:path w="9525" h="6286500">
                <a:moveTo>
                  <a:pt x="9525" y="6286500"/>
                </a:moveTo>
                <a:lnTo>
                  <a:pt x="0" y="6286500"/>
                </a:lnTo>
                <a:lnTo>
                  <a:pt x="0" y="0"/>
                </a:lnTo>
                <a:lnTo>
                  <a:pt x="9525" y="0"/>
                </a:lnTo>
                <a:lnTo>
                  <a:pt x="9525" y="6286500"/>
                </a:lnTo>
                <a:close/>
              </a:path>
            </a:pathLst>
          </a:custGeom>
          <a:solidFill>
            <a:srgbClr val="D5D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ath"/>
          <p:cNvSpPr>
            <a:spLocks noGrp="1"/>
          </p:cNvSpPr>
          <p:nvPr/>
        </p:nvSpPr>
        <p:spPr>
          <a:xfrm>
            <a:off x="8763000" y="4943475"/>
            <a:ext cx="8001000" cy="19050"/>
          </a:xfrm>
          <a:custGeom>
            <a:avLst/>
            <a:gdLst/>
            <a:ahLst/>
            <a:cxnLst/>
            <a:rect l="0" t="0" r="r" b="b"/>
            <a:pathLst>
              <a:path w="8001000" h="19050">
                <a:moveTo>
                  <a:pt x="8001000" y="0"/>
                </a:moveTo>
                <a:lnTo>
                  <a:pt x="8001000" y="19050"/>
                </a:lnTo>
                <a:lnTo>
                  <a:pt x="0" y="19050"/>
                </a:lnTo>
                <a:lnTo>
                  <a:pt x="0" y="0"/>
                </a:lnTo>
                <a:lnTo>
                  <a:pt x="8001000" y="0"/>
                </a:lnTo>
                <a:close/>
              </a:path>
            </a:pathLst>
          </a:custGeom>
          <a:solidFill>
            <a:srgbClr val="8A92A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ath"/>
          <p:cNvSpPr>
            <a:spLocks noGrp="1"/>
          </p:cNvSpPr>
          <p:nvPr/>
        </p:nvSpPr>
        <p:spPr>
          <a:xfrm>
            <a:off x="12753975" y="1905000"/>
            <a:ext cx="19050" cy="6286500"/>
          </a:xfrm>
          <a:custGeom>
            <a:avLst/>
            <a:gdLst/>
            <a:ahLst/>
            <a:cxnLst/>
            <a:rect l="0" t="0" r="r" b="b"/>
            <a:pathLst>
              <a:path w="19050" h="6286500">
                <a:moveTo>
                  <a:pt x="19050" y="6286500"/>
                </a:moveTo>
                <a:lnTo>
                  <a:pt x="0" y="6286500"/>
                </a:lnTo>
                <a:lnTo>
                  <a:pt x="0" y="0"/>
                </a:lnTo>
                <a:lnTo>
                  <a:pt x="19050" y="0"/>
                </a:lnTo>
                <a:lnTo>
                  <a:pt x="19050" y="6286500"/>
                </a:lnTo>
                <a:close/>
              </a:path>
            </a:pathLst>
          </a:custGeom>
          <a:solidFill>
            <a:srgbClr val="8A92A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Path"/>
          <p:cNvSpPr>
            <a:spLocks noGrp="1"/>
          </p:cNvSpPr>
          <p:nvPr/>
        </p:nvSpPr>
        <p:spPr>
          <a:xfrm>
            <a:off x="16649700" y="4876800"/>
            <a:ext cx="114300" cy="152400"/>
          </a:xfrm>
          <a:custGeom>
            <a:avLst/>
            <a:gdLst/>
            <a:ahLst/>
            <a:cxnLst/>
            <a:rect l="0" t="0" r="r" b="b"/>
            <a:pathLst>
              <a:path w="114300" h="152400">
                <a:moveTo>
                  <a:pt x="114300" y="76200"/>
                </a:moveTo>
                <a:lnTo>
                  <a:pt x="0" y="0"/>
                </a:lnTo>
                <a:lnTo>
                  <a:pt x="0" y="152400"/>
                </a:lnTo>
                <a:lnTo>
                  <a:pt x="114300" y="76200"/>
                </a:lnTo>
                <a:close/>
              </a:path>
            </a:pathLst>
          </a:custGeom>
          <a:solidFill>
            <a:srgbClr val="8A92A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ath"/>
          <p:cNvSpPr>
            <a:spLocks noGrp="1"/>
          </p:cNvSpPr>
          <p:nvPr/>
        </p:nvSpPr>
        <p:spPr>
          <a:xfrm>
            <a:off x="12687300" y="1905000"/>
            <a:ext cx="152400" cy="114300"/>
          </a:xfrm>
          <a:custGeom>
            <a:avLst/>
            <a:gdLst/>
            <a:ahLst/>
            <a:cxnLst/>
            <a:rect l="0" t="0" r="r" b="b"/>
            <a:pathLst>
              <a:path w="152400" h="114300">
                <a:moveTo>
                  <a:pt x="76200" y="0"/>
                </a:moveTo>
                <a:lnTo>
                  <a:pt x="0" y="114300"/>
                </a:lnTo>
                <a:lnTo>
                  <a:pt x="152400" y="114300"/>
                </a:lnTo>
                <a:lnTo>
                  <a:pt x="76200" y="0"/>
                </a:lnTo>
                <a:close/>
              </a:path>
            </a:pathLst>
          </a:custGeom>
          <a:solidFill>
            <a:srgbClr val="8A92A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ath"/>
          <p:cNvSpPr>
            <a:spLocks noGrp="1"/>
          </p:cNvSpPr>
          <p:nvPr/>
        </p:nvSpPr>
        <p:spPr>
          <a:xfrm>
            <a:off x="9686580" y="1876080"/>
            <a:ext cx="6153839" cy="6153839"/>
          </a:xfrm>
          <a:custGeom>
            <a:avLst/>
            <a:gdLst/>
            <a:ahLst/>
            <a:cxnLst/>
            <a:rect l="0" t="0" r="r" b="b"/>
            <a:pathLst>
              <a:path w="6153839" h="6153839">
                <a:moveTo>
                  <a:pt x="8714" y="6104714"/>
                </a:moveTo>
                <a:lnTo>
                  <a:pt x="6104714" y="8714"/>
                </a:lnTo>
                <a:quadBezTo>
                  <a:pt x="6112940" y="0"/>
                  <a:pt x="6124920" y="345"/>
                </a:quadBezTo>
                <a:quadBezTo>
                  <a:pt x="6136898" y="0"/>
                  <a:pt x="6145125" y="8714"/>
                </a:quadBezTo>
                <a:quadBezTo>
                  <a:pt x="6153839" y="16941"/>
                  <a:pt x="6153495" y="28920"/>
                </a:quadBezTo>
                <a:quadBezTo>
                  <a:pt x="6153839" y="40899"/>
                  <a:pt x="6145125" y="49125"/>
                </a:quadBezTo>
                <a:lnTo>
                  <a:pt x="49125" y="6145125"/>
                </a:lnTo>
                <a:quadBezTo>
                  <a:pt x="40899" y="6153839"/>
                  <a:pt x="28920" y="6153495"/>
                </a:quadBezTo>
                <a:quadBezTo>
                  <a:pt x="16941" y="6153839"/>
                  <a:pt x="8714" y="6145125"/>
                </a:quadBezTo>
                <a:quadBezTo>
                  <a:pt x="0" y="6136898"/>
                  <a:pt x="345" y="6124920"/>
                </a:quadBezTo>
                <a:quadBezTo>
                  <a:pt x="0" y="6112940"/>
                  <a:pt x="8714" y="6104714"/>
                </a:quadBezTo>
                <a:close/>
              </a:path>
            </a:pathLst>
          </a:cu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ath"/>
          <p:cNvSpPr>
            <a:spLocks noGrp="1"/>
          </p:cNvSpPr>
          <p:nvPr/>
        </p:nvSpPr>
        <p:spPr>
          <a:xfrm>
            <a:off x="9686580" y="1876080"/>
            <a:ext cx="6153839" cy="6153839"/>
          </a:xfrm>
          <a:custGeom>
            <a:avLst/>
            <a:gdLst/>
            <a:ahLst/>
            <a:cxnLst/>
            <a:rect l="0" t="0" r="r" b="b"/>
            <a:pathLst>
              <a:path w="6153839" h="6153839">
                <a:moveTo>
                  <a:pt x="49125" y="8714"/>
                </a:moveTo>
                <a:lnTo>
                  <a:pt x="6145125" y="6104714"/>
                </a:lnTo>
                <a:quadBezTo>
                  <a:pt x="6153839" y="6112940"/>
                  <a:pt x="6153495" y="6124920"/>
                </a:quadBezTo>
                <a:quadBezTo>
                  <a:pt x="6153839" y="6136898"/>
                  <a:pt x="6145125" y="6145125"/>
                </a:quadBezTo>
                <a:quadBezTo>
                  <a:pt x="6136898" y="6153839"/>
                  <a:pt x="6124920" y="6153495"/>
                </a:quadBezTo>
                <a:quadBezTo>
                  <a:pt x="6112940" y="6153839"/>
                  <a:pt x="6104714" y="6145125"/>
                </a:quadBezTo>
                <a:lnTo>
                  <a:pt x="8714" y="49125"/>
                </a:lnTo>
                <a:quadBezTo>
                  <a:pt x="0" y="40899"/>
                  <a:pt x="345" y="28920"/>
                </a:quadBezTo>
                <a:quadBezTo>
                  <a:pt x="0" y="16941"/>
                  <a:pt x="8714" y="8714"/>
                </a:quadBezTo>
                <a:quadBezTo>
                  <a:pt x="16941" y="0"/>
                  <a:pt x="28920" y="345"/>
                </a:quadBezTo>
                <a:quadBezTo>
                  <a:pt x="40899" y="0"/>
                  <a:pt x="49125" y="8714"/>
                </a:quadBezTo>
                <a:close/>
              </a:path>
            </a:pathLst>
          </a:custGeom>
          <a:solidFill>
            <a:srgbClr val="2A3A8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lipse"/>
          <p:cNvSpPr>
            <a:spLocks noGrp="1"/>
          </p:cNvSpPr>
          <p:nvPr/>
        </p:nvSpPr>
        <p:spPr>
          <a:xfrm>
            <a:off x="12677775" y="4867275"/>
            <a:ext cx="171450" cy="171450"/>
          </a:xfrm>
          <a:prstGeom prst="ellipse">
            <a:avLst/>
          </a:prstGeom>
          <a:solidFill>
            <a:srgbClr val="1B224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Box"/>
          <p:cNvSpPr>
            <a:spLocks noGrp="1"/>
          </p:cNvSpPr>
          <p:nvPr/>
        </p:nvSpPr>
        <p:spPr>
          <a:xfrm>
            <a:off x="14763750" y="2114550"/>
            <a:ext cx="700811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5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k = 3（上升）</a:t>
            </a:r>
            <a:endParaRPr sz="25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7" name="TextBox"/>
          <p:cNvSpPr>
            <a:spLocks noGrp="1"/>
          </p:cNvSpPr>
          <p:nvPr/>
        </p:nvSpPr>
        <p:spPr>
          <a:xfrm>
            <a:off x="14763750" y="7372350"/>
            <a:ext cx="852373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550">
                <a:solidFill>
                  <a:srgbClr val="2A3A8F"/>
                </a:solidFill>
                <a:latin typeface="Sarasa Gothic SC Bold"/>
                <a:ea typeface="Sarasa Gothic SC Bold"/>
                <a:cs typeface="Sarasa Gothic SC Bold"/>
              </a:rPr>
              <a:t>k = -2（下降）</a:t>
            </a:r>
            <a:endParaRPr sz="2550">
              <a:solidFill>
                <a:srgbClr val="2A3A8F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8" name="TextBox"/>
          <p:cNvSpPr>
            <a:spLocks noGrp="1"/>
          </p:cNvSpPr>
          <p:nvPr/>
        </p:nvSpPr>
        <p:spPr>
          <a:xfrm>
            <a:off x="9334501" y="8077200"/>
            <a:ext cx="3125648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· 拖动 k · 看见变化</a:t>
            </a:r>
            <a:endParaRPr sz="180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9" name="TextBox"/>
          <p:cNvSpPr>
            <a:spLocks noGrp="1"/>
          </p:cNvSpPr>
          <p:nvPr/>
        </p:nvSpPr>
        <p:spPr>
          <a:xfrm>
            <a:off x="16671017" y="9620250"/>
            <a:ext cx="66448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05 / 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lipse"/>
          <p:cNvSpPr>
            <a:spLocks noGrp="1"/>
          </p:cNvSpPr>
          <p:nvPr/>
        </p:nvSpPr>
        <p:spPr>
          <a:xfrm>
            <a:off x="15240000" y="-1238250"/>
            <a:ext cx="4953000" cy="4953000"/>
          </a:xfrm>
          <a:prstGeom prst="ellipse">
            <a:avLst/>
          </a:prstGeom>
          <a:solidFill>
            <a:srgbClr val="1FA98F">
              <a:alpha val="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angle"/>
          <p:cNvSpPr>
            <a:spLocks noGrp="1"/>
          </p:cNvSpPr>
          <p:nvPr/>
        </p:nvSpPr>
        <p:spPr>
          <a:xfrm>
            <a:off x="952500" y="22098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952500" y="876300"/>
            <a:ext cx="4299452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· EVIDENCE-BASED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952500" y="1333500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360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画像不是标签，是会被验证、修正、持续更新的记录</a:t>
            </a:r>
            <a:endParaRPr sz="360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" name="Rectangle"/>
          <p:cNvSpPr>
            <a:spLocks noGrp="1"/>
          </p:cNvSpPr>
          <p:nvPr/>
        </p:nvSpPr>
        <p:spPr>
          <a:xfrm>
            <a:off x="952500" y="2857500"/>
            <a:ext cx="5210175" cy="5334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TextBox"/>
          <p:cNvSpPr>
            <a:spLocks noGrp="1"/>
          </p:cNvSpPr>
          <p:nvPr/>
        </p:nvSpPr>
        <p:spPr>
          <a:xfrm>
            <a:off x="1333500" y="3276600"/>
            <a:ext cx="11430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学生自述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9" name="TextBox"/>
          <p:cNvSpPr>
            <a:spLocks noGrp="1"/>
          </p:cNvSpPr>
          <p:nvPr/>
        </p:nvSpPr>
        <p:spPr>
          <a:xfrm>
            <a:off x="1333500" y="4095750"/>
            <a:ext cx="29718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“我觉得函数图像很难。”</a:t>
            </a:r>
            <a:endParaRPr sz="1950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1333500" y="4762500"/>
            <a:ext cx="29718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“我希望先看具体例子。”</a:t>
            </a:r>
            <a:endParaRPr sz="1950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1" name="TextBox"/>
          <p:cNvSpPr>
            <a:spLocks noGrp="1"/>
          </p:cNvSpPr>
          <p:nvPr/>
        </p:nvSpPr>
        <p:spPr>
          <a:xfrm>
            <a:off x="1333500" y="742950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00">
                <a:solidFill>
                  <a:srgbClr val="8A92AD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来源：学生自述 + 练习</a:t>
            </a:r>
            <a:endParaRPr sz="1500">
              <a:solidFill>
                <a:srgbClr val="8A92AD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2" name="Rectangle"/>
          <p:cNvSpPr>
            <a:spLocks noGrp="1"/>
          </p:cNvSpPr>
          <p:nvPr/>
        </p:nvSpPr>
        <p:spPr>
          <a:xfrm>
            <a:off x="6543675" y="2857500"/>
            <a:ext cx="5210175" cy="5334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3" name="TextBox"/>
          <p:cNvSpPr>
            <a:spLocks noGrp="1"/>
          </p:cNvSpPr>
          <p:nvPr/>
        </p:nvSpPr>
        <p:spPr>
          <a:xfrm>
            <a:off x="6924675" y="3276600"/>
            <a:ext cx="913829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AI 观察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4" name="TextBox"/>
          <p:cNvSpPr>
            <a:spLocks noGrp="1"/>
          </p:cNvSpPr>
          <p:nvPr/>
        </p:nvSpPr>
        <p:spPr>
          <a:xfrm>
            <a:off x="6924675" y="4000500"/>
            <a:ext cx="42100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能完成代入，但解释斜率与图像关系不稳定。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5" name="Rectangle"/>
          <p:cNvSpPr>
            <a:spLocks noGrp="1"/>
          </p:cNvSpPr>
          <p:nvPr/>
        </p:nvSpPr>
        <p:spPr>
          <a:xfrm>
            <a:off x="6924675" y="5429250"/>
            <a:ext cx="2095500" cy="419100"/>
          </a:xfrm>
          <a:prstGeom prst="roundRect">
            <a:avLst>
              <a:gd name="adj" fmla="val 50000"/>
            </a:avLst>
          </a:prstGeom>
          <a:solidFill>
            <a:srgbClr val="2A3A8F">
              <a:alpha val="10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6" name="TextBox"/>
          <p:cNvSpPr>
            <a:spLocks noGrp="1"/>
          </p:cNvSpPr>
          <p:nvPr/>
        </p:nvSpPr>
        <p:spPr>
          <a:xfrm>
            <a:off x="7343775" y="5429250"/>
            <a:ext cx="12573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置信度：待验证</a:t>
            </a:r>
            <a:endParaRPr sz="1650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7" name="TextBox"/>
          <p:cNvSpPr>
            <a:spLocks noGrp="1"/>
          </p:cNvSpPr>
          <p:nvPr/>
        </p:nvSpPr>
        <p:spPr>
          <a:xfrm>
            <a:off x="6924675" y="7429500"/>
            <a:ext cx="307162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00">
                <a:solidFill>
                  <a:srgbClr val="8A92AD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· 图像操作 · 迁移题</a:t>
            </a:r>
            <a:endParaRPr sz="1500">
              <a:solidFill>
                <a:srgbClr val="8A92AD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8" name="Rectangle"/>
          <p:cNvSpPr>
            <a:spLocks noGrp="1"/>
          </p:cNvSpPr>
          <p:nvPr/>
        </p:nvSpPr>
        <p:spPr>
          <a:xfrm>
            <a:off x="12134850" y="2857500"/>
            <a:ext cx="5210175" cy="5334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9" name="TextBox"/>
          <p:cNvSpPr>
            <a:spLocks noGrp="1"/>
          </p:cNvSpPr>
          <p:nvPr/>
        </p:nvSpPr>
        <p:spPr>
          <a:xfrm>
            <a:off x="12515850" y="3276600"/>
            <a:ext cx="11430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验证结果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0" name="TextBox"/>
          <p:cNvSpPr>
            <a:spLocks noGrp="1"/>
          </p:cNvSpPr>
          <p:nvPr/>
        </p:nvSpPr>
        <p:spPr>
          <a:xfrm>
            <a:off x="12515850" y="4000500"/>
            <a:ext cx="3714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一次函数斜率方向：初步掌握</a:t>
            </a:r>
            <a:endParaRPr sz="19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1" name="TextBox"/>
          <p:cNvSpPr>
            <a:spLocks noGrp="1"/>
          </p:cNvSpPr>
          <p:nvPr/>
        </p:nvSpPr>
        <p:spPr>
          <a:xfrm>
            <a:off x="12515850" y="4572000"/>
            <a:ext cx="256580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→</a:t>
            </a:r>
            <a:endParaRPr sz="180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2" name="TextBox"/>
          <p:cNvSpPr>
            <a:spLocks noGrp="1"/>
          </p:cNvSpPr>
          <p:nvPr/>
        </p:nvSpPr>
        <p:spPr>
          <a:xfrm>
            <a:off x="12515850" y="504825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后续：继续观察迁移能力</a:t>
            </a:r>
            <a:endParaRPr sz="180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3" name="Rectangle"/>
          <p:cNvSpPr>
            <a:spLocks noGrp="1"/>
          </p:cNvSpPr>
          <p:nvPr/>
        </p:nvSpPr>
        <p:spPr>
          <a:xfrm>
            <a:off x="12515850" y="5715000"/>
            <a:ext cx="2095500" cy="419100"/>
          </a:xfrm>
          <a:prstGeom prst="roundRect">
            <a:avLst>
              <a:gd name="adj" fmla="val 50000"/>
            </a:avLst>
          </a:prstGeom>
          <a:solidFill>
            <a:srgbClr val="1FA98F">
              <a:alpha val="14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4" name="TextBox"/>
          <p:cNvSpPr>
            <a:spLocks noGrp="1"/>
          </p:cNvSpPr>
          <p:nvPr/>
        </p:nvSpPr>
        <p:spPr>
          <a:xfrm>
            <a:off x="12922482" y="5715000"/>
            <a:ext cx="1282236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✓ 已验证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5" name="TextBox"/>
          <p:cNvSpPr>
            <a:spLocks noGrp="1"/>
          </p:cNvSpPr>
          <p:nvPr/>
        </p:nvSpPr>
        <p:spPr>
          <a:xfrm>
            <a:off x="381000" y="4572000"/>
            <a:ext cx="288112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endParaRPr sz="150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6" name="TextBox"/>
          <p:cNvSpPr>
            <a:spLocks noGrp="1"/>
          </p:cNvSpPr>
          <p:nvPr/>
        </p:nvSpPr>
        <p:spPr>
          <a:xfrm>
            <a:off x="6054242" y="8572500"/>
            <a:ext cx="617951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→ 保留证据 → 更新画像</a:t>
            </a:r>
            <a:endParaRPr sz="180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7" name="TextBox"/>
          <p:cNvSpPr>
            <a:spLocks noGrp="1"/>
          </p:cNvSpPr>
          <p:nvPr/>
        </p:nvSpPr>
        <p:spPr>
          <a:xfrm>
            <a:off x="16665360" y="9620250"/>
            <a:ext cx="67014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06 / 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lipse"/>
          <p:cNvSpPr>
            <a:spLocks noGrp="1"/>
          </p:cNvSpPr>
          <p:nvPr/>
        </p:nvSpPr>
        <p:spPr>
          <a:xfrm>
            <a:off x="15240000" y="-1238250"/>
            <a:ext cx="4953000" cy="4953000"/>
          </a:xfrm>
          <a:prstGeom prst="ellipse">
            <a:avLst/>
          </a:prstGeom>
          <a:solidFill>
            <a:srgbClr val="2A3A8F">
              <a:alpha val="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angle"/>
          <p:cNvSpPr>
            <a:spLocks noGrp="1"/>
          </p:cNvSpPr>
          <p:nvPr/>
        </p:nvSpPr>
        <p:spPr>
          <a:xfrm>
            <a:off x="952500" y="22098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952500" y="876300"/>
            <a:ext cx="4376471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· KNOWLEDGE + MEMORY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952500" y="1333500"/>
            <a:ext cx="11887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360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知识卡提供内容，学习背景提供上下文</a:t>
            </a:r>
            <a:endParaRPr sz="360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" name="Rectangle"/>
          <p:cNvSpPr>
            <a:spLocks noGrp="1"/>
          </p:cNvSpPr>
          <p:nvPr/>
        </p:nvSpPr>
        <p:spPr>
          <a:xfrm>
            <a:off x="952500" y="2857500"/>
            <a:ext cx="7810500" cy="590550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Ellipse"/>
          <p:cNvSpPr>
            <a:spLocks noGrp="1"/>
          </p:cNvSpPr>
          <p:nvPr/>
        </p:nvSpPr>
        <p:spPr>
          <a:xfrm>
            <a:off x="1333500" y="3371850"/>
            <a:ext cx="228600" cy="228600"/>
          </a:xfrm>
          <a:prstGeom prst="ellipse">
            <a:avLst/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Box"/>
          <p:cNvSpPr>
            <a:spLocks noGrp="1"/>
          </p:cNvSpPr>
          <p:nvPr/>
        </p:nvSpPr>
        <p:spPr>
          <a:xfrm>
            <a:off x="1695450" y="32766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40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学科知识卡</a:t>
            </a:r>
            <a:endParaRPr sz="240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0" name="Rectangle"/>
          <p:cNvSpPr>
            <a:spLocks noGrp="1"/>
          </p:cNvSpPr>
          <p:nvPr/>
        </p:nvSpPr>
        <p:spPr>
          <a:xfrm>
            <a:off x="1333500" y="3905250"/>
            <a:ext cx="7048500" cy="19050"/>
          </a:xfrm>
          <a:prstGeom prst="rect">
            <a:avLst/>
          </a:prstGeom>
          <a:solidFill>
            <a:srgbClr val="2A3A8F">
              <a:alpha val="15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1" name="Ellipse"/>
          <p:cNvSpPr>
            <a:spLocks noGrp="1"/>
          </p:cNvSpPr>
          <p:nvPr/>
        </p:nvSpPr>
        <p:spPr>
          <a:xfrm>
            <a:off x="1333500" y="4400550"/>
            <a:ext cx="152400" cy="152400"/>
          </a:xfrm>
          <a:prstGeom prst="ellipse">
            <a:avLst/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extBox"/>
          <p:cNvSpPr>
            <a:spLocks noGrp="1"/>
          </p:cNvSpPr>
          <p:nvPr/>
        </p:nvSpPr>
        <p:spPr>
          <a:xfrm>
            <a:off x="1638300" y="4286250"/>
            <a:ext cx="397651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关键词检索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3" name="Ellipse"/>
          <p:cNvSpPr>
            <a:spLocks noGrp="1"/>
          </p:cNvSpPr>
          <p:nvPr/>
        </p:nvSpPr>
        <p:spPr>
          <a:xfrm>
            <a:off x="1333500" y="5162550"/>
            <a:ext cx="152400" cy="152400"/>
          </a:xfrm>
          <a:prstGeom prst="ellipse">
            <a:avLst/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TextBox"/>
          <p:cNvSpPr>
            <a:spLocks noGrp="1"/>
          </p:cNvSpPr>
          <p:nvPr/>
        </p:nvSpPr>
        <p:spPr>
          <a:xfrm>
            <a:off x="1638300" y="5048250"/>
            <a:ext cx="51228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知识点：斜率 · 函数图像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5" name="Ellipse"/>
          <p:cNvSpPr>
            <a:spLocks noGrp="1"/>
          </p:cNvSpPr>
          <p:nvPr/>
        </p:nvSpPr>
        <p:spPr>
          <a:xfrm>
            <a:off x="1333500" y="5924550"/>
            <a:ext cx="152400" cy="152400"/>
          </a:xfrm>
          <a:prstGeom prst="ellipse">
            <a:avLst/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6" name="TextBox"/>
          <p:cNvSpPr>
            <a:spLocks noGrp="1"/>
          </p:cNvSpPr>
          <p:nvPr/>
        </p:nvSpPr>
        <p:spPr>
          <a:xfrm>
            <a:off x="1638300" y="5810250"/>
            <a:ext cx="2971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后续可扩展学科知识卡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7" name="Rectangle"/>
          <p:cNvSpPr>
            <a:spLocks noGrp="1"/>
          </p:cNvSpPr>
          <p:nvPr/>
        </p:nvSpPr>
        <p:spPr>
          <a:xfrm>
            <a:off x="1333500" y="7620000"/>
            <a:ext cx="7048500" cy="533400"/>
          </a:xfrm>
          <a:prstGeom prst="roundRect">
            <a:avLst>
              <a:gd name="adj" fmla="val 25000"/>
            </a:avLst>
          </a:prstGeom>
          <a:solidFill>
            <a:srgbClr val="2A3A8F">
              <a:alpha val="8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TextBox"/>
          <p:cNvSpPr>
            <a:spLocks noGrp="1"/>
          </p:cNvSpPr>
          <p:nvPr/>
        </p:nvSpPr>
        <p:spPr>
          <a:xfrm>
            <a:off x="1562100" y="7620000"/>
            <a:ext cx="3429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800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知识卡：告诉知教“知识是什么”</a:t>
            </a:r>
            <a:endParaRPr sz="1800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9" name="Ellipse"/>
          <p:cNvSpPr>
            <a:spLocks noGrp="1"/>
          </p:cNvSpPr>
          <p:nvPr/>
        </p:nvSpPr>
        <p:spPr>
          <a:xfrm>
            <a:off x="381000" y="3829050"/>
            <a:ext cx="152400" cy="15240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0" name="TextBox"/>
          <p:cNvSpPr>
            <a:spLocks noGrp="1"/>
          </p:cNvSpPr>
          <p:nvPr/>
        </p:nvSpPr>
        <p:spPr>
          <a:xfrm>
            <a:off x="685800" y="3714750"/>
            <a:ext cx="27241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endParaRPr sz="1950">
              <a:solidFill>
                <a:srgbClr val="565E7A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1" name="Rectangle"/>
          <p:cNvSpPr>
            <a:spLocks noGrp="1"/>
          </p:cNvSpPr>
          <p:nvPr/>
        </p:nvSpPr>
        <p:spPr>
          <a:xfrm>
            <a:off x="9525000" y="2857500"/>
            <a:ext cx="7810500" cy="5905500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Ellipse"/>
          <p:cNvSpPr>
            <a:spLocks noGrp="1"/>
          </p:cNvSpPr>
          <p:nvPr/>
        </p:nvSpPr>
        <p:spPr>
          <a:xfrm>
            <a:off x="9906000" y="3371850"/>
            <a:ext cx="228600" cy="228600"/>
          </a:xfrm>
          <a:prstGeom prst="ellipse">
            <a:avLst/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3" name="TextBox"/>
          <p:cNvSpPr>
            <a:spLocks noGrp="1"/>
          </p:cNvSpPr>
          <p:nvPr/>
        </p:nvSpPr>
        <p:spPr>
          <a:xfrm>
            <a:off x="10267950" y="3276600"/>
            <a:ext cx="24384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40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学生学习背景</a:t>
            </a:r>
            <a:endParaRPr sz="240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4" name="Rectangle"/>
          <p:cNvSpPr>
            <a:spLocks noGrp="1"/>
          </p:cNvSpPr>
          <p:nvPr/>
        </p:nvSpPr>
        <p:spPr>
          <a:xfrm>
            <a:off x="9906000" y="3905250"/>
            <a:ext cx="7048500" cy="19050"/>
          </a:xfrm>
          <a:prstGeom prst="rect">
            <a:avLst/>
          </a:prstGeom>
          <a:solidFill>
            <a:srgbClr val="1FA98F">
              <a:alpha val="15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5" name="Ellipse"/>
          <p:cNvSpPr>
            <a:spLocks noGrp="1"/>
          </p:cNvSpPr>
          <p:nvPr/>
        </p:nvSpPr>
        <p:spPr>
          <a:xfrm>
            <a:off x="9906000" y="4400550"/>
            <a:ext cx="152400" cy="152400"/>
          </a:xfrm>
          <a:prstGeom prst="ellipse">
            <a:avLst/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6" name="TextBox"/>
          <p:cNvSpPr>
            <a:spLocks noGrp="1"/>
          </p:cNvSpPr>
          <p:nvPr/>
        </p:nvSpPr>
        <p:spPr>
          <a:xfrm>
            <a:off x="10210800" y="4286250"/>
            <a:ext cx="12382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年级：初二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7" name="Ellipse"/>
          <p:cNvSpPr>
            <a:spLocks noGrp="1"/>
          </p:cNvSpPr>
          <p:nvPr/>
        </p:nvSpPr>
        <p:spPr>
          <a:xfrm>
            <a:off x="9906000" y="5162550"/>
            <a:ext cx="152400" cy="152400"/>
          </a:xfrm>
          <a:prstGeom prst="ellipse">
            <a:avLst/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8" name="TextBox"/>
          <p:cNvSpPr>
            <a:spLocks noGrp="1"/>
          </p:cNvSpPr>
          <p:nvPr/>
        </p:nvSpPr>
        <p:spPr>
          <a:xfrm>
            <a:off x="10210800" y="5048250"/>
            <a:ext cx="6825729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来源：kb.json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9" name="Ellipse"/>
          <p:cNvSpPr>
            <a:spLocks noGrp="1"/>
          </p:cNvSpPr>
          <p:nvPr/>
        </p:nvSpPr>
        <p:spPr>
          <a:xfrm>
            <a:off x="9906000" y="5924550"/>
            <a:ext cx="152400" cy="152400"/>
          </a:xfrm>
          <a:prstGeom prst="ellipse">
            <a:avLst/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TextBox"/>
          <p:cNvSpPr>
            <a:spLocks noGrp="1"/>
          </p:cNvSpPr>
          <p:nvPr/>
        </p:nvSpPr>
        <p:spPr>
          <a:xfrm>
            <a:off x="10210800" y="5810250"/>
            <a:ext cx="32194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证据：迁移题回答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1" name="Ellipse"/>
          <p:cNvSpPr>
            <a:spLocks noGrp="1"/>
          </p:cNvSpPr>
          <p:nvPr/>
        </p:nvSpPr>
        <p:spPr>
          <a:xfrm>
            <a:off x="9906000" y="6686550"/>
            <a:ext cx="152400" cy="152400"/>
          </a:xfrm>
          <a:prstGeom prst="ellipse">
            <a:avLst/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2" name="TextBox"/>
          <p:cNvSpPr>
            <a:spLocks noGrp="1"/>
          </p:cNvSpPr>
          <p:nvPr/>
        </p:nvSpPr>
        <p:spPr>
          <a:xfrm>
            <a:off x="10210800" y="6572250"/>
            <a:ext cx="374545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置信度：待验证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3" name="Rectangle"/>
          <p:cNvSpPr>
            <a:spLocks noGrp="1"/>
          </p:cNvSpPr>
          <p:nvPr/>
        </p:nvSpPr>
        <p:spPr>
          <a:xfrm>
            <a:off x="9906000" y="7334250"/>
            <a:ext cx="7048500" cy="533400"/>
          </a:xfrm>
          <a:prstGeom prst="roundRect">
            <a:avLst>
              <a:gd name="adj" fmla="val 25000"/>
            </a:avLst>
          </a:prstGeom>
          <a:solidFill>
            <a:srgbClr val="FF8A3D">
              <a:alpha val="12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4" name="TextBox"/>
          <p:cNvSpPr>
            <a:spLocks noGrp="1"/>
          </p:cNvSpPr>
          <p:nvPr/>
        </p:nvSpPr>
        <p:spPr>
          <a:xfrm>
            <a:off x="10134600" y="7334250"/>
            <a:ext cx="41148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80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学习背景：告诉知教“这个学生怎么学”</a:t>
            </a:r>
            <a:endParaRPr sz="180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35" name="TextBox"/>
          <p:cNvSpPr>
            <a:spLocks noGrp="1"/>
          </p:cNvSpPr>
          <p:nvPr/>
        </p:nvSpPr>
        <p:spPr>
          <a:xfrm>
            <a:off x="9906000" y="819150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00">
                <a:solidFill>
                  <a:srgbClr val="8A92AD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按学科与主题隔离；不混用无关对话</a:t>
            </a:r>
            <a:endParaRPr sz="1500">
              <a:solidFill>
                <a:srgbClr val="8A92AD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6" name="TextBox"/>
          <p:cNvSpPr>
            <a:spLocks noGrp="1"/>
          </p:cNvSpPr>
          <p:nvPr/>
        </p:nvSpPr>
        <p:spPr>
          <a:xfrm>
            <a:off x="16680866" y="9620250"/>
            <a:ext cx="6546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07 / 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lipse"/>
          <p:cNvSpPr>
            <a:spLocks noGrp="1"/>
          </p:cNvSpPr>
          <p:nvPr/>
        </p:nvSpPr>
        <p:spPr>
          <a:xfrm>
            <a:off x="-1143000" y="4953000"/>
            <a:ext cx="4953000" cy="4953000"/>
          </a:xfrm>
          <a:prstGeom prst="ellipse">
            <a:avLst/>
          </a:prstGeom>
          <a:solidFill>
            <a:srgbClr val="2A3A8F">
              <a:alpha val="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angle"/>
          <p:cNvSpPr>
            <a:spLocks noGrp="1"/>
          </p:cNvSpPr>
          <p:nvPr/>
        </p:nvSpPr>
        <p:spPr>
          <a:xfrm>
            <a:off x="952500" y="22098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952500" y="876300"/>
            <a:ext cx="3811829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· WHY NOT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952500" y="1333500"/>
            <a:ext cx="874395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405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不是更快的答案，而是帮学生真正学会</a:t>
            </a:r>
            <a:endParaRPr sz="405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" name="Rectangle"/>
          <p:cNvSpPr>
            <a:spLocks noGrp="1"/>
          </p:cNvSpPr>
          <p:nvPr/>
        </p:nvSpPr>
        <p:spPr>
          <a:xfrm>
            <a:off x="952500" y="2857500"/>
            <a:ext cx="5210175" cy="5715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TextBox"/>
          <p:cNvSpPr>
            <a:spLocks noGrp="1"/>
          </p:cNvSpPr>
          <p:nvPr/>
        </p:nvSpPr>
        <p:spPr>
          <a:xfrm>
            <a:off x="1333500" y="3276600"/>
            <a:ext cx="11430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普通搜题</a:t>
            </a:r>
            <a:endParaRPr sz="22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9" name="Ellipse"/>
          <p:cNvSpPr>
            <a:spLocks noGrp="1"/>
          </p:cNvSpPr>
          <p:nvPr/>
        </p:nvSpPr>
        <p:spPr>
          <a:xfrm>
            <a:off x="1333500" y="4210050"/>
            <a:ext cx="419100" cy="419100"/>
          </a:xfrm>
          <a:prstGeom prst="ellipse">
            <a:avLst/>
          </a:prstGeom>
          <a:solidFill>
            <a:srgbClr val="8A92A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1905000" y="4210050"/>
            <a:ext cx="9906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输入题目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1" name="Ellipse"/>
          <p:cNvSpPr>
            <a:spLocks noGrp="1"/>
          </p:cNvSpPr>
          <p:nvPr/>
        </p:nvSpPr>
        <p:spPr>
          <a:xfrm>
            <a:off x="1333500" y="4972050"/>
            <a:ext cx="419100" cy="419100"/>
          </a:xfrm>
          <a:prstGeom prst="ellipse">
            <a:avLst/>
          </a:prstGeom>
          <a:solidFill>
            <a:srgbClr val="8A92A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extBox"/>
          <p:cNvSpPr>
            <a:spLocks noGrp="1"/>
          </p:cNvSpPr>
          <p:nvPr/>
        </p:nvSpPr>
        <p:spPr>
          <a:xfrm>
            <a:off x="1905000" y="4972050"/>
            <a:ext cx="12382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直接给答案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3" name="Ellipse"/>
          <p:cNvSpPr>
            <a:spLocks noGrp="1"/>
          </p:cNvSpPr>
          <p:nvPr/>
        </p:nvSpPr>
        <p:spPr>
          <a:xfrm>
            <a:off x="1333500" y="5734050"/>
            <a:ext cx="419100" cy="419100"/>
          </a:xfrm>
          <a:prstGeom prst="ellipse">
            <a:avLst/>
          </a:prstGeom>
          <a:solidFill>
            <a:srgbClr val="8A92A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TextBox"/>
          <p:cNvSpPr>
            <a:spLocks noGrp="1"/>
          </p:cNvSpPr>
          <p:nvPr/>
        </p:nvSpPr>
        <p:spPr>
          <a:xfrm>
            <a:off x="1905000" y="5734050"/>
            <a:ext cx="2476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仍不懂“为什么做错”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5" name="TextBox"/>
          <p:cNvSpPr>
            <a:spLocks noGrp="1"/>
          </p:cNvSpPr>
          <p:nvPr/>
        </p:nvSpPr>
        <p:spPr>
          <a:xfrm>
            <a:off x="1333500" y="7334250"/>
            <a:ext cx="18859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用完即弃，无法沉淀</a:t>
            </a:r>
            <a:endParaRPr sz="1650">
              <a:solidFill>
                <a:srgbClr val="8A92AD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6" name="Rectangle"/>
          <p:cNvSpPr>
            <a:spLocks noGrp="1"/>
          </p:cNvSpPr>
          <p:nvPr/>
        </p:nvSpPr>
        <p:spPr>
          <a:xfrm>
            <a:off x="6543675" y="2857500"/>
            <a:ext cx="5210175" cy="5715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7" name="TextBox"/>
          <p:cNvSpPr>
            <a:spLocks noGrp="1"/>
          </p:cNvSpPr>
          <p:nvPr/>
        </p:nvSpPr>
        <p:spPr>
          <a:xfrm>
            <a:off x="6924675" y="3276600"/>
            <a:ext cx="142875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单次大模型</a:t>
            </a:r>
            <a:endParaRPr sz="22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Rectangle"/>
          <p:cNvSpPr>
            <a:spLocks noGrp="1"/>
          </p:cNvSpPr>
          <p:nvPr/>
        </p:nvSpPr>
        <p:spPr>
          <a:xfrm>
            <a:off x="6924675" y="42100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9" name="TextBox"/>
          <p:cNvSpPr>
            <a:spLocks noGrp="1"/>
          </p:cNvSpPr>
          <p:nvPr/>
        </p:nvSpPr>
        <p:spPr>
          <a:xfrm>
            <a:off x="7025011" y="4210050"/>
            <a:ext cx="218427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✓</a:t>
            </a:r>
            <a:endParaRPr sz="195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0" name="TextBox"/>
          <p:cNvSpPr>
            <a:spLocks noGrp="1"/>
          </p:cNvSpPr>
          <p:nvPr/>
        </p:nvSpPr>
        <p:spPr>
          <a:xfrm>
            <a:off x="7496175" y="4210050"/>
            <a:ext cx="17335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能解释当前问题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1" name="Rectangle"/>
          <p:cNvSpPr>
            <a:spLocks noGrp="1"/>
          </p:cNvSpPr>
          <p:nvPr/>
        </p:nvSpPr>
        <p:spPr>
          <a:xfrm>
            <a:off x="6924675" y="49720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A92A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TextBox"/>
          <p:cNvSpPr>
            <a:spLocks noGrp="1"/>
          </p:cNvSpPr>
          <p:nvPr/>
        </p:nvSpPr>
        <p:spPr>
          <a:xfrm>
            <a:off x="7024887" y="4972050"/>
            <a:ext cx="21867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✗</a:t>
            </a:r>
            <a:endParaRPr sz="195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3" name="TextBox"/>
          <p:cNvSpPr>
            <a:spLocks noGrp="1"/>
          </p:cNvSpPr>
          <p:nvPr/>
        </p:nvSpPr>
        <p:spPr>
          <a:xfrm>
            <a:off x="7496175" y="5734050"/>
            <a:ext cx="17335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不一定验证迁移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4" name="TextBox"/>
          <p:cNvSpPr>
            <a:spLocks noGrp="1"/>
          </p:cNvSpPr>
          <p:nvPr/>
        </p:nvSpPr>
        <p:spPr>
          <a:xfrm>
            <a:off x="7496175" y="4972050"/>
            <a:ext cx="22288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不一定记得学生状态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5" name="Rectangle"/>
          <p:cNvSpPr>
            <a:spLocks noGrp="1"/>
          </p:cNvSpPr>
          <p:nvPr/>
        </p:nvSpPr>
        <p:spPr>
          <a:xfrm>
            <a:off x="6924675" y="57340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A92A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6" name="TextBox"/>
          <p:cNvSpPr>
            <a:spLocks noGrp="1"/>
          </p:cNvSpPr>
          <p:nvPr/>
        </p:nvSpPr>
        <p:spPr>
          <a:xfrm>
            <a:off x="7024887" y="5734050"/>
            <a:ext cx="21867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✗</a:t>
            </a:r>
            <a:endParaRPr sz="195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7" name="TextBox"/>
          <p:cNvSpPr>
            <a:spLocks noGrp="1"/>
          </p:cNvSpPr>
          <p:nvPr/>
        </p:nvSpPr>
        <p:spPr>
          <a:xfrm>
            <a:off x="381000" y="4476750"/>
            <a:ext cx="18859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8" name="Rectangle"/>
          <p:cNvSpPr>
            <a:spLocks noGrp="1"/>
          </p:cNvSpPr>
          <p:nvPr/>
        </p:nvSpPr>
        <p:spPr>
          <a:xfrm>
            <a:off x="12134850" y="2857500"/>
            <a:ext cx="5210175" cy="5715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9" name="TextBox"/>
          <p:cNvSpPr>
            <a:spLocks noGrp="1"/>
          </p:cNvSpPr>
          <p:nvPr/>
        </p:nvSpPr>
        <p:spPr>
          <a:xfrm>
            <a:off x="12515850" y="327660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知教</a:t>
            </a:r>
            <a:endParaRPr sz="2250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30" name="Rectangle"/>
          <p:cNvSpPr>
            <a:spLocks noGrp="1"/>
          </p:cNvSpPr>
          <p:nvPr/>
        </p:nvSpPr>
        <p:spPr>
          <a:xfrm>
            <a:off x="15563850" y="3295650"/>
            <a:ext cx="1524000" cy="43815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1" name="TextBox"/>
          <p:cNvSpPr>
            <a:spLocks noGrp="1"/>
          </p:cNvSpPr>
          <p:nvPr/>
        </p:nvSpPr>
        <p:spPr>
          <a:xfrm>
            <a:off x="15906750" y="3295650"/>
            <a:ext cx="8382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持续闭环</a:t>
            </a:r>
            <a:endParaRPr sz="165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32" name="Rectangle"/>
          <p:cNvSpPr>
            <a:spLocks noGrp="1"/>
          </p:cNvSpPr>
          <p:nvPr/>
        </p:nvSpPr>
        <p:spPr>
          <a:xfrm>
            <a:off x="12515850" y="42100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3" name="TextBox"/>
          <p:cNvSpPr>
            <a:spLocks noGrp="1"/>
          </p:cNvSpPr>
          <p:nvPr/>
        </p:nvSpPr>
        <p:spPr>
          <a:xfrm>
            <a:off x="12616187" y="4210050"/>
            <a:ext cx="218427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✓</a:t>
            </a:r>
            <a:endParaRPr sz="195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34" name="TextBox"/>
          <p:cNvSpPr>
            <a:spLocks noGrp="1"/>
          </p:cNvSpPr>
          <p:nvPr/>
        </p:nvSpPr>
        <p:spPr>
          <a:xfrm>
            <a:off x="13087350" y="4210050"/>
            <a:ext cx="17335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先追问，再讲解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5" name="Rectangle"/>
          <p:cNvSpPr>
            <a:spLocks noGrp="1"/>
          </p:cNvSpPr>
          <p:nvPr/>
        </p:nvSpPr>
        <p:spPr>
          <a:xfrm>
            <a:off x="12515850" y="49720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6" name="TextBox"/>
          <p:cNvSpPr>
            <a:spLocks noGrp="1"/>
          </p:cNvSpPr>
          <p:nvPr/>
        </p:nvSpPr>
        <p:spPr>
          <a:xfrm>
            <a:off x="12616187" y="4972050"/>
            <a:ext cx="218427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✓</a:t>
            </a:r>
            <a:endParaRPr sz="195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37" name="TextBox"/>
          <p:cNvSpPr>
            <a:spLocks noGrp="1"/>
          </p:cNvSpPr>
          <p:nvPr/>
        </p:nvSpPr>
        <p:spPr>
          <a:xfrm>
            <a:off x="13087350" y="4972050"/>
            <a:ext cx="19812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用变式题验证理解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8" name="Rectangle"/>
          <p:cNvSpPr>
            <a:spLocks noGrp="1"/>
          </p:cNvSpPr>
          <p:nvPr/>
        </p:nvSpPr>
        <p:spPr>
          <a:xfrm>
            <a:off x="12515850" y="57340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9" name="TextBox"/>
          <p:cNvSpPr>
            <a:spLocks noGrp="1"/>
          </p:cNvSpPr>
          <p:nvPr/>
        </p:nvSpPr>
        <p:spPr>
          <a:xfrm>
            <a:off x="12616187" y="5734050"/>
            <a:ext cx="218427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✓</a:t>
            </a:r>
            <a:endParaRPr sz="195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40" name="TextBox"/>
          <p:cNvSpPr>
            <a:spLocks noGrp="1"/>
          </p:cNvSpPr>
          <p:nvPr/>
        </p:nvSpPr>
        <p:spPr>
          <a:xfrm>
            <a:off x="13087350" y="5734050"/>
            <a:ext cx="2476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9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下一次继承上一次学习</a:t>
            </a:r>
            <a:endParaRPr sz="19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41" name="Rectangle"/>
          <p:cNvSpPr>
            <a:spLocks noGrp="1"/>
          </p:cNvSpPr>
          <p:nvPr/>
        </p:nvSpPr>
        <p:spPr>
          <a:xfrm>
            <a:off x="12515850" y="7334250"/>
            <a:ext cx="4448175" cy="533400"/>
          </a:xfrm>
          <a:prstGeom prst="roundRect">
            <a:avLst>
              <a:gd name="adj" fmla="val 25000"/>
            </a:avLst>
          </a:prstGeom>
          <a:solidFill>
            <a:srgbClr val="FF8A3D">
              <a:alpha val="12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42" name="TextBox"/>
          <p:cNvSpPr>
            <a:spLocks noGrp="1"/>
          </p:cNvSpPr>
          <p:nvPr/>
        </p:nvSpPr>
        <p:spPr>
          <a:xfrm>
            <a:off x="13139738" y="7334250"/>
            <a:ext cx="3200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80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闭环关键：解释 + 验证 + 继承</a:t>
            </a:r>
            <a:endParaRPr sz="180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43" name="Rectangle"/>
          <p:cNvSpPr>
            <a:spLocks noGrp="1"/>
          </p:cNvSpPr>
          <p:nvPr/>
        </p:nvSpPr>
        <p:spPr>
          <a:xfrm>
            <a:off x="12144375" y="2867025"/>
            <a:ext cx="5191125" cy="5695950"/>
          </a:xfrm>
          <a:prstGeom prst="roundRect">
            <a:avLst>
              <a:gd name="adj" fmla="val 4220"/>
            </a:avLst>
          </a:prstGeom>
          <a:noFill/>
          <a:ln w="19050">
            <a:solidFill>
              <a:srgbClr val="2A3A8F"/>
            </a:solidFill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44" name="TextBox"/>
          <p:cNvSpPr>
            <a:spLocks noGrp="1"/>
          </p:cNvSpPr>
          <p:nvPr/>
        </p:nvSpPr>
        <p:spPr>
          <a:xfrm>
            <a:off x="16665569" y="9620250"/>
            <a:ext cx="66993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08 / 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lipse"/>
          <p:cNvSpPr>
            <a:spLocks noGrp="1"/>
          </p:cNvSpPr>
          <p:nvPr/>
        </p:nvSpPr>
        <p:spPr>
          <a:xfrm>
            <a:off x="15240000" y="-1238250"/>
            <a:ext cx="4953000" cy="4953000"/>
          </a:xfrm>
          <a:prstGeom prst="ellipse">
            <a:avLst/>
          </a:prstGeom>
          <a:solidFill>
            <a:srgbClr val="2A3A8F">
              <a:alpha val="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angle"/>
          <p:cNvSpPr>
            <a:spLocks noGrp="1"/>
          </p:cNvSpPr>
          <p:nvPr/>
        </p:nvSpPr>
        <p:spPr>
          <a:xfrm>
            <a:off x="952500" y="22098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952500" y="876300"/>
            <a:ext cx="388463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· TECH HIGHLIGHTS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952500" y="1333500"/>
            <a:ext cx="8686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360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技术亮点：把可复现性和安全边界写进产品</a:t>
            </a:r>
            <a:endParaRPr sz="360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" name="Rectangle"/>
          <p:cNvSpPr>
            <a:spLocks noGrp="1"/>
          </p:cNvSpPr>
          <p:nvPr/>
        </p:nvSpPr>
        <p:spPr>
          <a:xfrm>
            <a:off x="952500" y="2857500"/>
            <a:ext cx="781050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Ellipse"/>
          <p:cNvSpPr>
            <a:spLocks noGrp="1"/>
          </p:cNvSpPr>
          <p:nvPr/>
        </p:nvSpPr>
        <p:spPr>
          <a:xfrm>
            <a:off x="1333500" y="3238500"/>
            <a:ext cx="609600" cy="609600"/>
          </a:xfrm>
          <a:prstGeom prst="ellipse">
            <a:avLst/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Box"/>
          <p:cNvSpPr>
            <a:spLocks noGrp="1"/>
          </p:cNvSpPr>
          <p:nvPr/>
        </p:nvSpPr>
        <p:spPr>
          <a:xfrm>
            <a:off x="2133600" y="3314700"/>
            <a:ext cx="3441573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可复现闭环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2133600" y="38100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0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为什么重要</a:t>
            </a:r>
            <a:endParaRPr sz="150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1" name="TextBox"/>
          <p:cNvSpPr>
            <a:spLocks noGrp="1"/>
          </p:cNvSpPr>
          <p:nvPr/>
        </p:nvSpPr>
        <p:spPr>
          <a:xfrm>
            <a:off x="1333500" y="4286250"/>
            <a:ext cx="66294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80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SSE 流式诊断→讲解→练习→画像；无 Key 也能跑预设闭环。</a:t>
            </a:r>
            <a:endParaRPr sz="180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2" name="Rectangle"/>
          <p:cNvSpPr>
            <a:spLocks noGrp="1"/>
          </p:cNvSpPr>
          <p:nvPr/>
        </p:nvSpPr>
        <p:spPr>
          <a:xfrm>
            <a:off x="9525000" y="2857500"/>
            <a:ext cx="781050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3" name="Ellipse"/>
          <p:cNvSpPr>
            <a:spLocks noGrp="1"/>
          </p:cNvSpPr>
          <p:nvPr/>
        </p:nvSpPr>
        <p:spPr>
          <a:xfrm>
            <a:off x="9906000" y="3238500"/>
            <a:ext cx="609600" cy="6096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TextBox"/>
          <p:cNvSpPr>
            <a:spLocks noGrp="1"/>
          </p:cNvSpPr>
          <p:nvPr/>
        </p:nvSpPr>
        <p:spPr>
          <a:xfrm>
            <a:off x="10706100" y="3314700"/>
            <a:ext cx="241573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零依赖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5" name="TextBox"/>
          <p:cNvSpPr>
            <a:spLocks noGrp="1"/>
          </p:cNvSpPr>
          <p:nvPr/>
        </p:nvSpPr>
        <p:spPr>
          <a:xfrm>
            <a:off x="10706100" y="38100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0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为什么重要</a:t>
            </a:r>
            <a:endParaRPr sz="150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6" name="TextBox"/>
          <p:cNvSpPr>
            <a:spLocks noGrp="1"/>
          </p:cNvSpPr>
          <p:nvPr/>
        </p:nvSpPr>
        <p:spPr>
          <a:xfrm>
            <a:off x="9906000" y="4286250"/>
            <a:ext cx="6605397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80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Python 标准库 + 浏览器原生 API，克隆后即可运行。</a:t>
            </a:r>
            <a:endParaRPr sz="180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7" name="Rectangle"/>
          <p:cNvSpPr>
            <a:spLocks noGrp="1"/>
          </p:cNvSpPr>
          <p:nvPr/>
        </p:nvSpPr>
        <p:spPr>
          <a:xfrm>
            <a:off x="952500" y="5905500"/>
            <a:ext cx="781050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Ellipse"/>
          <p:cNvSpPr>
            <a:spLocks noGrp="1"/>
          </p:cNvSpPr>
          <p:nvPr/>
        </p:nvSpPr>
        <p:spPr>
          <a:xfrm>
            <a:off x="1333500" y="6286500"/>
            <a:ext cx="609600" cy="609600"/>
          </a:xfrm>
          <a:prstGeom prst="ellipse">
            <a:avLst/>
          </a:prstGeom>
          <a:solidFill>
            <a:srgbClr val="1FA9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9" name="TextBox"/>
          <p:cNvSpPr>
            <a:spLocks noGrp="1"/>
          </p:cNvSpPr>
          <p:nvPr/>
        </p:nvSpPr>
        <p:spPr>
          <a:xfrm>
            <a:off x="2133600" y="6362700"/>
            <a:ext cx="3251549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离线 OCR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0" name="TextBox"/>
          <p:cNvSpPr>
            <a:spLocks noGrp="1"/>
          </p:cNvSpPr>
          <p:nvPr/>
        </p:nvSpPr>
        <p:spPr>
          <a:xfrm>
            <a:off x="2133600" y="68580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0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为什么重要</a:t>
            </a:r>
            <a:endParaRPr sz="150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1" name="TextBox"/>
          <p:cNvSpPr>
            <a:spLocks noGrp="1"/>
          </p:cNvSpPr>
          <p:nvPr/>
        </p:nvSpPr>
        <p:spPr>
          <a:xfrm>
            <a:off x="1333500" y="7334250"/>
            <a:ext cx="6254496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上传题图先走 Windows.Media.Ocr；识别失败会请学生口述。</a:t>
            </a:r>
            <a:endParaRPr sz="180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2" name="Rectangle"/>
          <p:cNvSpPr>
            <a:spLocks noGrp="1"/>
          </p:cNvSpPr>
          <p:nvPr/>
        </p:nvSpPr>
        <p:spPr>
          <a:xfrm>
            <a:off x="9525000" y="5905500"/>
            <a:ext cx="781050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3" name="Ellipse"/>
          <p:cNvSpPr>
            <a:spLocks noGrp="1"/>
          </p:cNvSpPr>
          <p:nvPr/>
        </p:nvSpPr>
        <p:spPr>
          <a:xfrm>
            <a:off x="9906000" y="6286500"/>
            <a:ext cx="609600" cy="609600"/>
          </a:xfrm>
          <a:prstGeom prst="ellipse">
            <a:avLst/>
          </a:prstGeom>
          <a:solidFill>
            <a:srgbClr val="2A3A8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4" name="TextBox"/>
          <p:cNvSpPr>
            <a:spLocks noGrp="1"/>
          </p:cNvSpPr>
          <p:nvPr/>
        </p:nvSpPr>
        <p:spPr>
          <a:xfrm>
            <a:off x="10706100" y="6362700"/>
            <a:ext cx="20002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练习卡质检</a:t>
            </a:r>
            <a:endParaRPr sz="22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5" name="TextBox"/>
          <p:cNvSpPr>
            <a:spLocks noGrp="1"/>
          </p:cNvSpPr>
          <p:nvPr/>
        </p:nvSpPr>
        <p:spPr>
          <a:xfrm>
            <a:off x="10706100" y="6858000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0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为什么重要</a:t>
            </a:r>
            <a:endParaRPr sz="150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6" name="TextBox"/>
          <p:cNvSpPr>
            <a:spLocks noGrp="1"/>
          </p:cNvSpPr>
          <p:nvPr/>
        </p:nvSpPr>
        <p:spPr>
          <a:xfrm>
            <a:off x="9906000" y="7334250"/>
            <a:ext cx="6593738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结构校验 + 唯一性检查 + 年级难度审核，不合格不下发。</a:t>
            </a:r>
            <a:endParaRPr sz="180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7" name="TextBox"/>
          <p:cNvSpPr>
            <a:spLocks noGrp="1"/>
          </p:cNvSpPr>
          <p:nvPr/>
        </p:nvSpPr>
        <p:spPr>
          <a:xfrm>
            <a:off x="16665360" y="9620250"/>
            <a:ext cx="67014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09/13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lipse"/>
          <p:cNvSpPr>
            <a:spLocks noGrp="1"/>
          </p:cNvSpPr>
          <p:nvPr/>
        </p:nvSpPr>
        <p:spPr>
          <a:xfrm>
            <a:off x="15240000" y="-1238250"/>
            <a:ext cx="4953000" cy="4953000"/>
          </a:xfrm>
          <a:prstGeom prst="ellipse">
            <a:avLst/>
          </a:prstGeom>
          <a:solidFill>
            <a:srgbClr val="1FA98F">
              <a:alpha val="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angle"/>
          <p:cNvSpPr>
            <a:spLocks noGrp="1"/>
          </p:cNvSpPr>
          <p:nvPr/>
        </p:nvSpPr>
        <p:spPr>
          <a:xfrm>
            <a:off x="952500" y="22098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952500" y="876300"/>
            <a:ext cx="333064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· VERIFICATION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952500" y="1333500"/>
            <a:ext cx="7605065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360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验证证据：自动检查 + 浏览器闭环</a:t>
            </a:r>
            <a:endParaRPr sz="360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" name="Rectangle"/>
          <p:cNvSpPr>
            <a:spLocks noGrp="1"/>
          </p:cNvSpPr>
          <p:nvPr/>
        </p:nvSpPr>
        <p:spPr>
          <a:xfrm>
            <a:off x="952500" y="3048000"/>
            <a:ext cx="5210175" cy="304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TextBox"/>
          <p:cNvSpPr>
            <a:spLocks noGrp="1"/>
          </p:cNvSpPr>
          <p:nvPr/>
        </p:nvSpPr>
        <p:spPr>
          <a:xfrm>
            <a:off x="1333500" y="3429000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8A92AD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基础检查</a:t>
            </a:r>
            <a:endParaRPr sz="1800">
              <a:solidFill>
                <a:srgbClr val="8A92AD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9" name="TextBox"/>
          <p:cNvSpPr>
            <a:spLocks noGrp="1"/>
          </p:cNvSpPr>
          <p:nvPr/>
        </p:nvSpPr>
        <p:spPr>
          <a:xfrm>
            <a:off x="1295400" y="3905250"/>
            <a:ext cx="2955702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8250">
                <a:solidFill>
                  <a:srgbClr val="2A3A8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10/10</a:t>
            </a:r>
            <a:endParaRPr sz="8250">
              <a:solidFill>
                <a:srgbClr val="2A3A8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1333500" y="5334000"/>
            <a:ext cx="3919062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verify_loop.py：接口与结构检查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1" name="Rectangle"/>
          <p:cNvSpPr>
            <a:spLocks noGrp="1"/>
          </p:cNvSpPr>
          <p:nvPr/>
        </p:nvSpPr>
        <p:spPr>
          <a:xfrm>
            <a:off x="6543675" y="3048000"/>
            <a:ext cx="5210175" cy="304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extBox"/>
          <p:cNvSpPr>
            <a:spLocks noGrp="1"/>
          </p:cNvSpPr>
          <p:nvPr/>
        </p:nvSpPr>
        <p:spPr>
          <a:xfrm>
            <a:off x="6924675" y="3429000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8A92AD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三层质检</a:t>
            </a:r>
            <a:endParaRPr sz="1800">
              <a:solidFill>
                <a:srgbClr val="8A92AD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3" name="TextBox"/>
          <p:cNvSpPr>
            <a:spLocks noGrp="1"/>
          </p:cNvSpPr>
          <p:nvPr/>
        </p:nvSpPr>
        <p:spPr>
          <a:xfrm>
            <a:off x="6886575" y="3905250"/>
            <a:ext cx="1925764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825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3 层</a:t>
            </a:r>
            <a:endParaRPr sz="825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4" name="TextBox"/>
          <p:cNvSpPr>
            <a:spLocks noGrp="1"/>
          </p:cNvSpPr>
          <p:nvPr/>
        </p:nvSpPr>
        <p:spPr>
          <a:xfrm>
            <a:off x="6924675" y="5334000"/>
            <a:ext cx="3676117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结构 / 唯一性 / 难度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5" name="Rectangle"/>
          <p:cNvSpPr>
            <a:spLocks noGrp="1"/>
          </p:cNvSpPr>
          <p:nvPr/>
        </p:nvSpPr>
        <p:spPr>
          <a:xfrm>
            <a:off x="12134850" y="3048000"/>
            <a:ext cx="5210175" cy="3048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6" name="TextBox"/>
          <p:cNvSpPr>
            <a:spLocks noGrp="1"/>
          </p:cNvSpPr>
          <p:nvPr/>
        </p:nvSpPr>
        <p:spPr>
          <a:xfrm>
            <a:off x="12515850" y="3429000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8A92AD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离线浏览器实测</a:t>
            </a:r>
            <a:endParaRPr sz="1800">
              <a:solidFill>
                <a:srgbClr val="8A92AD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7" name="TextBox"/>
          <p:cNvSpPr>
            <a:spLocks noGrp="1"/>
          </p:cNvSpPr>
          <p:nvPr/>
        </p:nvSpPr>
        <p:spPr>
          <a:xfrm>
            <a:off x="12477750" y="3905250"/>
            <a:ext cx="1810512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82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"/>
                <a:ea typeface="Source Han Sans CN"/>
                <a:cs typeface="Source Han Sans CN"/>
              </a:rPr>
              <a:t>90s</a:t>
            </a:r>
            <a:endParaRPr sz="82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8" name="TextBox"/>
          <p:cNvSpPr>
            <a:spLocks noGrp="1"/>
          </p:cNvSpPr>
          <p:nvPr/>
        </p:nvSpPr>
        <p:spPr>
          <a:xfrm>
            <a:off x="12515850" y="5334000"/>
            <a:ext cx="39624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完整演示脚本跑通，零控制台错误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9" name="Rectangle"/>
          <p:cNvSpPr>
            <a:spLocks noGrp="1"/>
          </p:cNvSpPr>
          <p:nvPr/>
        </p:nvSpPr>
        <p:spPr>
          <a:xfrm>
            <a:off x="952500" y="6572250"/>
            <a:ext cx="16383000" cy="238125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0" name="TextBox"/>
          <p:cNvSpPr>
            <a:spLocks noGrp="1"/>
          </p:cNvSpPr>
          <p:nvPr/>
        </p:nvSpPr>
        <p:spPr>
          <a:xfrm>
            <a:off x="1333500" y="6858000"/>
            <a:ext cx="33694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10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核心路径</a:t>
            </a:r>
            <a:endParaRPr sz="210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1" name="Rectangle"/>
          <p:cNvSpPr>
            <a:spLocks noGrp="1"/>
          </p:cNvSpPr>
          <p:nvPr/>
        </p:nvSpPr>
        <p:spPr>
          <a:xfrm>
            <a:off x="13335000" y="6858000"/>
            <a:ext cx="3619500" cy="419100"/>
          </a:xfrm>
          <a:prstGeom prst="roundRect">
            <a:avLst>
              <a:gd name="adj" fmla="val 50000"/>
            </a:avLst>
          </a:prstGeom>
          <a:solidFill>
            <a:srgbClr val="FF8A3D">
              <a:alpha val="12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TextBox"/>
          <p:cNvSpPr>
            <a:spLocks noGrp="1"/>
          </p:cNvSpPr>
          <p:nvPr/>
        </p:nvSpPr>
        <p:spPr>
          <a:xfrm>
            <a:off x="13837787" y="6858000"/>
            <a:ext cx="2613926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已验证</a:t>
            </a:r>
            <a:endParaRPr sz="165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3" name="TextBox"/>
          <p:cNvSpPr>
            <a:spLocks noGrp="1"/>
          </p:cNvSpPr>
          <p:nvPr/>
        </p:nvSpPr>
        <p:spPr>
          <a:xfrm>
            <a:off x="1333500" y="7620000"/>
            <a:ext cx="8661653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2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选 k → 追问 → 讲解 → 选择题 → 迁移题 → 画像更新</a:t>
            </a:r>
            <a:endParaRPr sz="22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4" name="TextBox"/>
          <p:cNvSpPr>
            <a:spLocks noGrp="1"/>
          </p:cNvSpPr>
          <p:nvPr/>
        </p:nvSpPr>
        <p:spPr>
          <a:xfrm>
            <a:off x="16709994" y="9620250"/>
            <a:ext cx="62550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10 / 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TextBox"/>
          <p:cNvSpPr>
            <a:spLocks noGrp="1"/>
          </p:cNvSpPr>
          <p:nvPr/>
        </p:nvSpPr>
        <p:spPr>
          <a:xfrm>
            <a:off x="952500" y="876300"/>
            <a:ext cx="497429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COMPLIANCE &amp; BOUNDARY ·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4" name="TextBox"/>
          <p:cNvSpPr>
            <a:spLocks noGrp="1"/>
          </p:cNvSpPr>
          <p:nvPr/>
        </p:nvSpPr>
        <p:spPr>
          <a:xfrm>
            <a:off x="952500" y="13335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360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合规与边界：如实说明能做什么、不能做什么</a:t>
            </a:r>
            <a:endParaRPr sz="360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5" name="Rectangle"/>
          <p:cNvSpPr>
            <a:spLocks noGrp="1"/>
          </p:cNvSpPr>
          <p:nvPr/>
        </p:nvSpPr>
        <p:spPr>
          <a:xfrm>
            <a:off x="952500" y="22098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952500" y="2400300"/>
            <a:ext cx="7543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5A6478"/>
                </a:solidFill>
                <a:latin typeface="Sarasa Gothic SC"/>
                <a:ea typeface="Sarasa Gothic SC"/>
                <a:cs typeface="Sarasa Gothic SC"/>
              </a:rPr>
              <a:t>边界</a:t>
            </a:r>
            <a:endParaRPr sz="1800">
              <a:solidFill>
                <a:srgbClr val="5A6478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7" name="Rectangle"/>
          <p:cNvSpPr>
            <a:spLocks noGrp="1"/>
          </p:cNvSpPr>
          <p:nvPr/>
        </p:nvSpPr>
        <p:spPr>
          <a:xfrm>
            <a:off x="952500" y="2971800"/>
            <a:ext cx="7810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Rectangle"/>
          <p:cNvSpPr>
            <a:spLocks noGrp="1"/>
          </p:cNvSpPr>
          <p:nvPr/>
        </p:nvSpPr>
        <p:spPr>
          <a:xfrm>
            <a:off x="1333500" y="33528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Box"/>
          <p:cNvSpPr>
            <a:spLocks noGrp="1"/>
          </p:cNvSpPr>
          <p:nvPr/>
        </p:nvSpPr>
        <p:spPr>
          <a:xfrm>
            <a:off x="1493882" y="3352800"/>
            <a:ext cx="28883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10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01</a:t>
            </a:r>
            <a:endParaRPr sz="210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2133600" y="3467100"/>
            <a:ext cx="19431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5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未成年人保护</a:t>
            </a:r>
            <a:endParaRPr sz="25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1" name="TextBox"/>
          <p:cNvSpPr>
            <a:spLocks noGrp="1"/>
          </p:cNvSpPr>
          <p:nvPr/>
        </p:nvSpPr>
        <p:spPr>
          <a:xfrm>
            <a:off x="1333500" y="4210050"/>
            <a:ext cx="693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只使用年级/学科与学习对话；不替代教师判断。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2" name="TextBox"/>
          <p:cNvSpPr>
            <a:spLocks noGrp="1"/>
          </p:cNvSpPr>
          <p:nvPr/>
        </p:nvSpPr>
        <p:spPr>
          <a:xfrm>
            <a:off x="1333500" y="5086350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证据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3" name="TextBox"/>
          <p:cNvSpPr>
            <a:spLocks noGrp="1"/>
          </p:cNvSpPr>
          <p:nvPr/>
        </p:nvSpPr>
        <p:spPr>
          <a:xfrm>
            <a:off x="1333500" y="5372100"/>
            <a:ext cx="6864858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575">
                <a:solidFill>
                  <a:srgbClr val="5A647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system prompt + UI 提示</a:t>
            </a:r>
            <a:endParaRPr sz="1575">
              <a:solidFill>
                <a:srgbClr val="5A647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4" name="Rectangle"/>
          <p:cNvSpPr>
            <a:spLocks noGrp="1"/>
          </p:cNvSpPr>
          <p:nvPr/>
        </p:nvSpPr>
        <p:spPr>
          <a:xfrm>
            <a:off x="9525000" y="2971800"/>
            <a:ext cx="7810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Rectangle"/>
          <p:cNvSpPr>
            <a:spLocks noGrp="1"/>
          </p:cNvSpPr>
          <p:nvPr/>
        </p:nvSpPr>
        <p:spPr>
          <a:xfrm>
            <a:off x="9906000" y="33528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6" name="TextBox"/>
          <p:cNvSpPr>
            <a:spLocks noGrp="1"/>
          </p:cNvSpPr>
          <p:nvPr/>
        </p:nvSpPr>
        <p:spPr>
          <a:xfrm>
            <a:off x="10039712" y="3352800"/>
            <a:ext cx="34217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10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02</a:t>
            </a:r>
            <a:endParaRPr sz="210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7" name="TextBox"/>
          <p:cNvSpPr>
            <a:spLocks noGrp="1"/>
          </p:cNvSpPr>
          <p:nvPr/>
        </p:nvSpPr>
        <p:spPr>
          <a:xfrm>
            <a:off x="10706100" y="3467100"/>
            <a:ext cx="1295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5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数据去向</a:t>
            </a:r>
            <a:endParaRPr sz="25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TextBox"/>
          <p:cNvSpPr>
            <a:spLocks noGrp="1"/>
          </p:cNvSpPr>
          <p:nvPr/>
        </p:nvSpPr>
        <p:spPr>
          <a:xfrm>
            <a:off x="9906000" y="4210050"/>
            <a:ext cx="7038213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题图先本地 OCR；配置外部模型时，对话与必要题面会发送给所选服务商。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9" name="TextBox"/>
          <p:cNvSpPr>
            <a:spLocks noGrp="1"/>
          </p:cNvSpPr>
          <p:nvPr/>
        </p:nvSpPr>
        <p:spPr>
          <a:xfrm>
            <a:off x="9906000" y="5086350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证据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0" name="TextBox"/>
          <p:cNvSpPr>
            <a:spLocks noGrp="1"/>
          </p:cNvSpPr>
          <p:nvPr/>
        </p:nvSpPr>
        <p:spPr>
          <a:xfrm>
            <a:off x="9906000" y="5372100"/>
            <a:ext cx="680085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75">
                <a:solidFill>
                  <a:srgbClr val="5A647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上传流程 + 提供方配置</a:t>
            </a:r>
            <a:endParaRPr sz="1575">
              <a:solidFill>
                <a:srgbClr val="5A647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1" name="Rectangle"/>
          <p:cNvSpPr>
            <a:spLocks noGrp="1"/>
          </p:cNvSpPr>
          <p:nvPr/>
        </p:nvSpPr>
        <p:spPr>
          <a:xfrm>
            <a:off x="952500" y="6210300"/>
            <a:ext cx="7810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Rectangle"/>
          <p:cNvSpPr>
            <a:spLocks noGrp="1"/>
          </p:cNvSpPr>
          <p:nvPr/>
        </p:nvSpPr>
        <p:spPr>
          <a:xfrm>
            <a:off x="1333500" y="65913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3" name="TextBox"/>
          <p:cNvSpPr>
            <a:spLocks noGrp="1"/>
          </p:cNvSpPr>
          <p:nvPr/>
        </p:nvSpPr>
        <p:spPr>
          <a:xfrm>
            <a:off x="1465478" y="6591300"/>
            <a:ext cx="34564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10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03</a:t>
            </a:r>
            <a:endParaRPr sz="210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4" name="TextBox"/>
          <p:cNvSpPr>
            <a:spLocks noGrp="1"/>
          </p:cNvSpPr>
          <p:nvPr/>
        </p:nvSpPr>
        <p:spPr>
          <a:xfrm>
            <a:off x="2133600" y="6705600"/>
            <a:ext cx="233107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5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AI 内容标识</a:t>
            </a:r>
            <a:endParaRPr sz="25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5" name="TextBox"/>
          <p:cNvSpPr>
            <a:spLocks noGrp="1"/>
          </p:cNvSpPr>
          <p:nvPr/>
        </p:nvSpPr>
        <p:spPr>
          <a:xfrm>
            <a:off x="1333500" y="7448550"/>
            <a:ext cx="6875012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讲解、练习、画像均标注 AI 生成或预设案例。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6" name="TextBox"/>
          <p:cNvSpPr>
            <a:spLocks noGrp="1"/>
          </p:cNvSpPr>
          <p:nvPr/>
        </p:nvSpPr>
        <p:spPr>
          <a:xfrm>
            <a:off x="1333500" y="8324850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证据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7" name="TextBox"/>
          <p:cNvSpPr>
            <a:spLocks noGrp="1"/>
          </p:cNvSpPr>
          <p:nvPr/>
        </p:nvSpPr>
        <p:spPr>
          <a:xfrm>
            <a:off x="1333500" y="8610600"/>
            <a:ext cx="649361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75">
                <a:solidFill>
                  <a:srgbClr val="5A647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模式徽章 + 练习卡标签</a:t>
            </a:r>
            <a:endParaRPr sz="1575">
              <a:solidFill>
                <a:srgbClr val="5A647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8" name="Rectangle"/>
          <p:cNvSpPr>
            <a:spLocks noGrp="1"/>
          </p:cNvSpPr>
          <p:nvPr/>
        </p:nvSpPr>
        <p:spPr>
          <a:xfrm>
            <a:off x="9525000" y="6210300"/>
            <a:ext cx="7810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9" name="Rectangle"/>
          <p:cNvSpPr>
            <a:spLocks noGrp="1"/>
          </p:cNvSpPr>
          <p:nvPr/>
        </p:nvSpPr>
        <p:spPr>
          <a:xfrm>
            <a:off x="9906000" y="65913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TextBox"/>
          <p:cNvSpPr>
            <a:spLocks noGrp="1"/>
          </p:cNvSpPr>
          <p:nvPr/>
        </p:nvSpPr>
        <p:spPr>
          <a:xfrm>
            <a:off x="10033978" y="6591300"/>
            <a:ext cx="35364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100">
                <a:solidFill>
                  <a:srgbClr val="FFFFFF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04</a:t>
            </a:r>
            <a:endParaRPr sz="2100">
              <a:solidFill>
                <a:srgbClr val="FFFFFF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31" name="TextBox"/>
          <p:cNvSpPr>
            <a:spLocks noGrp="1"/>
          </p:cNvSpPr>
          <p:nvPr/>
        </p:nvSpPr>
        <p:spPr>
          <a:xfrm>
            <a:off x="10706100" y="6705600"/>
            <a:ext cx="130673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5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MIT 开源</a:t>
            </a:r>
            <a:endParaRPr sz="25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32" name="TextBox"/>
          <p:cNvSpPr>
            <a:spLocks noGrp="1"/>
          </p:cNvSpPr>
          <p:nvPr/>
        </p:nvSpPr>
        <p:spPr>
          <a:xfrm>
            <a:off x="9906000" y="7448550"/>
            <a:ext cx="6037707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代码、部署说明、示例材料开放；Key 不随仓库提交。</a:t>
            </a:r>
            <a:endParaRPr sz="195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3" name="TextBox"/>
          <p:cNvSpPr>
            <a:spLocks noGrp="1"/>
          </p:cNvSpPr>
          <p:nvPr/>
        </p:nvSpPr>
        <p:spPr>
          <a:xfrm>
            <a:off x="9906000" y="8324850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证据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34" name="TextBox"/>
          <p:cNvSpPr>
            <a:spLocks noGrp="1"/>
          </p:cNvSpPr>
          <p:nvPr/>
        </p:nvSpPr>
        <p:spPr>
          <a:xfrm>
            <a:off x="9906000" y="8610600"/>
            <a:ext cx="589713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75">
                <a:solidFill>
                  <a:srgbClr val="5A647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LICENSE + .env.example</a:t>
            </a:r>
            <a:endParaRPr sz="1575">
              <a:solidFill>
                <a:srgbClr val="5A647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5" name="TextBox"/>
          <p:cNvSpPr>
            <a:spLocks noGrp="1"/>
          </p:cNvSpPr>
          <p:nvPr/>
        </p:nvSpPr>
        <p:spPr>
          <a:xfrm>
            <a:off x="16756933" y="9620250"/>
            <a:ext cx="57856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11 / 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EEF3FC"/>
              </a:gs>
              <a:gs pos="100000">
                <a:srgbClr val="E3EBF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TextBox"/>
          <p:cNvSpPr>
            <a:spLocks noGrp="1"/>
          </p:cNvSpPr>
          <p:nvPr/>
        </p:nvSpPr>
        <p:spPr>
          <a:xfrm>
            <a:off x="952500" y="876300"/>
            <a:ext cx="263252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8A3D"/>
                </a:solidFill>
                <a:latin typeface="Sarasa Gothic SC Bold"/>
                <a:ea typeface="Sarasa Gothic SC Bold"/>
                <a:cs typeface="Sarasa Gothic SC Bold"/>
              </a:rPr>
              <a:t>ROADMAP ·</a:t>
            </a:r>
            <a:endParaRPr sz="1950">
              <a:solidFill>
                <a:srgbClr val="FF8A3D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4" name="TextBox"/>
          <p:cNvSpPr>
            <a:spLocks noGrp="1"/>
          </p:cNvSpPr>
          <p:nvPr/>
        </p:nvSpPr>
        <p:spPr>
          <a:xfrm>
            <a:off x="952500" y="13335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3600">
                <a:solidFill>
                  <a:srgbClr val="1B2240"/>
                </a:solidFill>
                <a:latin typeface="Source Han Sans CN Bold"/>
                <a:ea typeface="Source Han Sans CN Bold"/>
                <a:cs typeface="Source Han Sans CN Bold"/>
              </a:rPr>
              <a:t>迭代路线：已验证的现在，与诚实规划的将来</a:t>
            </a:r>
            <a:endParaRPr sz="3600">
              <a:solidFill>
                <a:srgbClr val="1B2240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5" name="Rectangle"/>
          <p:cNvSpPr>
            <a:spLocks noGrp="1"/>
          </p:cNvSpPr>
          <p:nvPr/>
        </p:nvSpPr>
        <p:spPr>
          <a:xfrm>
            <a:off x="952500" y="22098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952500" y="2400300"/>
            <a:ext cx="7772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5A6478"/>
                </a:solidFill>
                <a:latin typeface="Sarasa Gothic SC"/>
                <a:ea typeface="Sarasa Gothic SC"/>
                <a:cs typeface="Sarasa Gothic SC"/>
              </a:rPr>
              <a:t>离线闭环已验证；以下为规划项，不夸大现状。</a:t>
            </a:r>
            <a:endParaRPr sz="1800">
              <a:solidFill>
                <a:srgbClr val="5A6478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7" name="Rectangle"/>
          <p:cNvSpPr>
            <a:spLocks noGrp="1"/>
          </p:cNvSpPr>
          <p:nvPr/>
        </p:nvSpPr>
        <p:spPr>
          <a:xfrm>
            <a:off x="952500" y="3429000"/>
            <a:ext cx="16383000" cy="38100"/>
          </a:xfrm>
          <a:prstGeom prst="roundRect">
            <a:avLst>
              <a:gd name="adj" fmla="val 50000"/>
            </a:avLst>
          </a:prstGeom>
          <a:solidFill>
            <a:srgbClr val="FF8A3D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angle"/>
          <p:cNvSpPr>
            <a:spLocks noGrp="1"/>
          </p:cNvSpPr>
          <p:nvPr/>
        </p:nvSpPr>
        <p:spPr>
          <a:xfrm>
            <a:off x="952500" y="2857500"/>
            <a:ext cx="5210175" cy="5334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Rectangle"/>
          <p:cNvSpPr>
            <a:spLocks noGrp="1"/>
          </p:cNvSpPr>
          <p:nvPr/>
        </p:nvSpPr>
        <p:spPr>
          <a:xfrm>
            <a:off x="1333500" y="3238500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1568844" y="3238500"/>
            <a:ext cx="958063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P1 ·</a:t>
            </a:r>
            <a:endParaRPr sz="165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1" name="TextBox"/>
          <p:cNvSpPr>
            <a:spLocks noGrp="1"/>
          </p:cNvSpPr>
          <p:nvPr/>
        </p:nvSpPr>
        <p:spPr>
          <a:xfrm>
            <a:off x="1333500" y="3848100"/>
            <a:ext cx="16192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5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真实模型验证</a:t>
            </a:r>
            <a:endParaRPr sz="25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2" name="TextBox"/>
          <p:cNvSpPr>
            <a:spLocks noGrp="1"/>
          </p:cNvSpPr>
          <p:nvPr/>
        </p:nvSpPr>
        <p:spPr>
          <a:xfrm>
            <a:off x="1333500" y="4419600"/>
            <a:ext cx="43434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80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配置可用模型后，补齐实时诊断、生成练习和外部服务验收记录。</a:t>
            </a:r>
            <a:endParaRPr sz="180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3" name="Rectangle"/>
          <p:cNvSpPr>
            <a:spLocks noGrp="1"/>
          </p:cNvSpPr>
          <p:nvPr/>
        </p:nvSpPr>
        <p:spPr>
          <a:xfrm>
            <a:off x="1333500" y="6096000"/>
            <a:ext cx="4448175" cy="9525"/>
          </a:xfrm>
          <a:prstGeom prst="rect">
            <a:avLst/>
          </a:prstGeom>
          <a:solidFill>
            <a:srgbClr val="D9E2F2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TextBox"/>
          <p:cNvSpPr>
            <a:spLocks noGrp="1"/>
          </p:cNvSpPr>
          <p:nvPr/>
        </p:nvSpPr>
        <p:spPr>
          <a:xfrm>
            <a:off x="1333500" y="630555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验收标准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5" name="TextBox"/>
          <p:cNvSpPr>
            <a:spLocks noGrp="1"/>
          </p:cNvSpPr>
          <p:nvPr/>
        </p:nvSpPr>
        <p:spPr>
          <a:xfrm>
            <a:off x="1333500" y="6610350"/>
            <a:ext cx="4372946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575">
                <a:solidFill>
                  <a:srgbClr val="5A647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真实模型全链路可复现，失败有明确提示。</a:t>
            </a:r>
            <a:endParaRPr sz="1575">
              <a:solidFill>
                <a:srgbClr val="5A647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6" name="TextBox"/>
          <p:cNvSpPr>
            <a:spLocks noGrp="1"/>
          </p:cNvSpPr>
          <p:nvPr/>
        </p:nvSpPr>
        <p:spPr>
          <a:xfrm>
            <a:off x="1333500" y="748665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依赖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7" name="TextBox"/>
          <p:cNvSpPr>
            <a:spLocks noGrp="1"/>
          </p:cNvSpPr>
          <p:nvPr/>
        </p:nvSpPr>
        <p:spPr>
          <a:xfrm>
            <a:off x="1333500" y="7791450"/>
            <a:ext cx="38004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75">
                <a:solidFill>
                  <a:srgbClr val="5A647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可用模型 Key 与服务条款。</a:t>
            </a:r>
            <a:endParaRPr sz="1575">
              <a:solidFill>
                <a:srgbClr val="5A647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18" name="Rectangle"/>
          <p:cNvSpPr>
            <a:spLocks noGrp="1"/>
          </p:cNvSpPr>
          <p:nvPr/>
        </p:nvSpPr>
        <p:spPr>
          <a:xfrm>
            <a:off x="6543675" y="2857500"/>
            <a:ext cx="5210175" cy="5334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19" name="Rectangle"/>
          <p:cNvSpPr>
            <a:spLocks noGrp="1"/>
          </p:cNvSpPr>
          <p:nvPr/>
        </p:nvSpPr>
        <p:spPr>
          <a:xfrm>
            <a:off x="6924675" y="3238500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0" name="TextBox"/>
          <p:cNvSpPr>
            <a:spLocks noGrp="1"/>
          </p:cNvSpPr>
          <p:nvPr/>
        </p:nvSpPr>
        <p:spPr>
          <a:xfrm>
            <a:off x="7139064" y="3238500"/>
            <a:ext cx="999973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P2 ·</a:t>
            </a:r>
            <a:endParaRPr sz="165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1" name="TextBox"/>
          <p:cNvSpPr>
            <a:spLocks noGrp="1"/>
          </p:cNvSpPr>
          <p:nvPr/>
        </p:nvSpPr>
        <p:spPr>
          <a:xfrm>
            <a:off x="6924675" y="3848100"/>
            <a:ext cx="1963826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5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数据治理</a:t>
            </a:r>
            <a:endParaRPr sz="25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22" name="TextBox"/>
          <p:cNvSpPr>
            <a:spLocks noGrp="1"/>
          </p:cNvSpPr>
          <p:nvPr/>
        </p:nvSpPr>
        <p:spPr>
          <a:xfrm>
            <a:off x="6924675" y="4419600"/>
            <a:ext cx="43434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80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补充授权、删除、会话保留周期与加密存储。</a:t>
            </a:r>
            <a:endParaRPr sz="180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3" name="Rectangle"/>
          <p:cNvSpPr>
            <a:spLocks noGrp="1"/>
          </p:cNvSpPr>
          <p:nvPr/>
        </p:nvSpPr>
        <p:spPr>
          <a:xfrm>
            <a:off x="6924675" y="6096000"/>
            <a:ext cx="4448175" cy="9525"/>
          </a:xfrm>
          <a:prstGeom prst="rect">
            <a:avLst/>
          </a:prstGeom>
          <a:solidFill>
            <a:srgbClr val="D9E2F2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4" name="TextBox"/>
          <p:cNvSpPr>
            <a:spLocks noGrp="1"/>
          </p:cNvSpPr>
          <p:nvPr/>
        </p:nvSpPr>
        <p:spPr>
          <a:xfrm>
            <a:off x="6924675" y="630555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验收标准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5" name="TextBox"/>
          <p:cNvSpPr>
            <a:spLocks noGrp="1"/>
          </p:cNvSpPr>
          <p:nvPr/>
        </p:nvSpPr>
        <p:spPr>
          <a:xfrm>
            <a:off x="6924675" y="6610350"/>
            <a:ext cx="44005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575">
                <a:solidFill>
                  <a:srgbClr val="5A647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用户可查看、导出、删除自己的学习记录。</a:t>
            </a:r>
            <a:endParaRPr sz="1575">
              <a:solidFill>
                <a:srgbClr val="5A647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6" name="TextBox"/>
          <p:cNvSpPr>
            <a:spLocks noGrp="1"/>
          </p:cNvSpPr>
          <p:nvPr/>
        </p:nvSpPr>
        <p:spPr>
          <a:xfrm>
            <a:off x="6924675" y="748665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依赖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27" name="TextBox"/>
          <p:cNvSpPr>
            <a:spLocks noGrp="1"/>
          </p:cNvSpPr>
          <p:nvPr/>
        </p:nvSpPr>
        <p:spPr>
          <a:xfrm>
            <a:off x="6924675" y="77914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75">
                <a:solidFill>
                  <a:srgbClr val="5A647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存储策略与未成年人保护评审。</a:t>
            </a:r>
            <a:endParaRPr sz="1575">
              <a:solidFill>
                <a:srgbClr val="5A647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28" name="Rectangle"/>
          <p:cNvSpPr>
            <a:spLocks noGrp="1"/>
          </p:cNvSpPr>
          <p:nvPr/>
        </p:nvSpPr>
        <p:spPr>
          <a:xfrm>
            <a:off x="12134850" y="2857500"/>
            <a:ext cx="5210175" cy="5334000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29" name="Rectangle"/>
          <p:cNvSpPr>
            <a:spLocks noGrp="1"/>
          </p:cNvSpPr>
          <p:nvPr/>
        </p:nvSpPr>
        <p:spPr>
          <a:xfrm>
            <a:off x="12515850" y="3238500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TextBox"/>
          <p:cNvSpPr>
            <a:spLocks noGrp="1"/>
          </p:cNvSpPr>
          <p:nvPr/>
        </p:nvSpPr>
        <p:spPr>
          <a:xfrm>
            <a:off x="12728877" y="3238500"/>
            <a:ext cx="1002697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1650">
                <a:solidFill>
                  <a:srgbClr val="C25E12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P3 ·</a:t>
            </a:r>
            <a:endParaRPr sz="1650">
              <a:solidFill>
                <a:srgbClr val="C25E12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31" name="TextBox"/>
          <p:cNvSpPr>
            <a:spLocks noGrp="1"/>
          </p:cNvSpPr>
          <p:nvPr/>
        </p:nvSpPr>
        <p:spPr>
          <a:xfrm>
            <a:off x="12515850" y="3848100"/>
            <a:ext cx="12954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550">
                <a:solidFill>
                  <a:srgbClr val="1B2240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rPr>
              <a:t>教师纠偏</a:t>
            </a:r>
            <a:endParaRPr sz="2550">
              <a:solidFill>
                <a:srgbClr val="1B2240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32" name="TextBox"/>
          <p:cNvSpPr>
            <a:spLocks noGrp="1"/>
          </p:cNvSpPr>
          <p:nvPr/>
        </p:nvSpPr>
        <p:spPr>
          <a:xfrm>
            <a:off x="12515850" y="4419600"/>
            <a:ext cx="4462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800">
                <a:solidFill>
                  <a:srgbClr val="565E7A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让教师标注、纠偏画像，并把干预结果回流。</a:t>
            </a:r>
            <a:endParaRPr sz="1800">
              <a:solidFill>
                <a:srgbClr val="565E7A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3" name="Rectangle"/>
          <p:cNvSpPr>
            <a:spLocks noGrp="1"/>
          </p:cNvSpPr>
          <p:nvPr/>
        </p:nvSpPr>
        <p:spPr>
          <a:xfrm>
            <a:off x="12515850" y="6096000"/>
            <a:ext cx="4448175" cy="9525"/>
          </a:xfrm>
          <a:prstGeom prst="rect">
            <a:avLst/>
          </a:prstGeom>
          <a:solidFill>
            <a:srgbClr val="D9E2F2"/>
          </a:solidFill>
          <a:ln>
            <a:noFill/>
          </a:ln>
          <a:effectLst>
            <a:outerShdw blurRad="142875" dist="9525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34" name="TextBox"/>
          <p:cNvSpPr>
            <a:spLocks noGrp="1"/>
          </p:cNvSpPr>
          <p:nvPr/>
        </p:nvSpPr>
        <p:spPr>
          <a:xfrm>
            <a:off x="12515850" y="6305550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验收标准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35" name="TextBox"/>
          <p:cNvSpPr>
            <a:spLocks noGrp="1"/>
          </p:cNvSpPr>
          <p:nvPr/>
        </p:nvSpPr>
        <p:spPr>
          <a:xfrm>
            <a:off x="12515850" y="6610350"/>
            <a:ext cx="44005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575">
                <a:solidFill>
                  <a:srgbClr val="5A647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教师可标注画像，干预结果回流为新的证据。</a:t>
            </a:r>
            <a:endParaRPr sz="1575">
              <a:solidFill>
                <a:srgbClr val="5A647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6" name="TextBox"/>
          <p:cNvSpPr>
            <a:spLocks noGrp="1"/>
          </p:cNvSpPr>
          <p:nvPr/>
        </p:nvSpPr>
        <p:spPr>
          <a:xfrm>
            <a:off x="12515850" y="748665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157A6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 Bold"/>
                <a:ea typeface="Sarasa Gothic SC Bold"/>
                <a:cs typeface="Sarasa Gothic SC Bold"/>
              </a:rPr>
              <a:t>依赖</a:t>
            </a:r>
            <a:endParaRPr sz="1650">
              <a:solidFill>
                <a:srgbClr val="157A6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37" name="TextBox"/>
          <p:cNvSpPr>
            <a:spLocks noGrp="1"/>
          </p:cNvSpPr>
          <p:nvPr/>
        </p:nvSpPr>
        <p:spPr>
          <a:xfrm>
            <a:off x="12515850" y="7791450"/>
            <a:ext cx="38004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575">
                <a:solidFill>
                  <a:srgbClr val="5A6478"/>
                </a:solidFill>
                <a:effectLst>
                  <a:outerShdw blurRad="142875" dist="95250" dir="5400000" algn="ctr" rotWithShape="0">
                    <a:srgbClr val="000000">
                      <a:alpha val="10000"/>
                    </a:srgbClr>
                  </a:outerShdw>
                </a:effectLst>
                <a:latin typeface="Sarasa Gothic SC"/>
                <a:ea typeface="Sarasa Gothic SC"/>
                <a:cs typeface="Sarasa Gothic SC"/>
              </a:rPr>
              <a:t>学校授权与教师工作流接入。</a:t>
            </a:r>
            <a:endParaRPr sz="1575">
              <a:solidFill>
                <a:srgbClr val="5A6478"/>
              </a:solidFill>
              <a:effectLst>
                <a:outerShdw blurRad="142875" dist="95250" dir="5400000" algn="ctr" rotWithShape="0">
                  <a:srgbClr val="000000">
                    <a:alpha val="10000"/>
                  </a:srgbClr>
                </a:outerShdw>
              </a:effectLst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8" name="TextBox"/>
          <p:cNvSpPr>
            <a:spLocks noGrp="1"/>
          </p:cNvSpPr>
          <p:nvPr/>
        </p:nvSpPr>
        <p:spPr>
          <a:xfrm>
            <a:off x="5084064" y="8572500"/>
            <a:ext cx="811987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80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当前：离线闭环已验证；P1-P3 为规划</a:t>
            </a:r>
            <a:endParaRPr sz="180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  <p:sp>
        <p:nvSpPr>
          <p:cNvPr id="39" name="TextBox"/>
          <p:cNvSpPr>
            <a:spLocks noGrp="1"/>
          </p:cNvSpPr>
          <p:nvPr/>
        </p:nvSpPr>
        <p:spPr>
          <a:xfrm>
            <a:off x="16714394" y="9620250"/>
            <a:ext cx="62110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2AD"/>
                </a:solidFill>
                <a:latin typeface="Sarasa Gothic SC"/>
                <a:ea typeface="Sarasa Gothic SC"/>
                <a:cs typeface="Sarasa Gothic SC"/>
              </a:rPr>
              <a:t>12 / 13</a:t>
            </a:r>
            <a:endParaRPr sz="1650">
              <a:solidFill>
                <a:srgbClr val="8A92AD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31A3D"/>
              </a:gs>
              <a:gs pos="100000">
                <a:srgbClr val="243064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lipse"/>
          <p:cNvSpPr>
            <a:spLocks noGrp="1"/>
          </p:cNvSpPr>
          <p:nvPr/>
        </p:nvSpPr>
        <p:spPr>
          <a:xfrm>
            <a:off x="13335000" y="0"/>
            <a:ext cx="4953000" cy="4953000"/>
          </a:xfrm>
          <a:prstGeom prst="ellipse">
            <a:avLst/>
          </a:prstGeom>
          <a:solidFill>
            <a:srgbClr val="FF9F5A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"/>
          <p:cNvSpPr>
            <a:spLocks noGrp="1"/>
          </p:cNvSpPr>
          <p:nvPr/>
        </p:nvSpPr>
        <p:spPr>
          <a:xfrm>
            <a:off x="1143000" y="1905000"/>
            <a:ext cx="197921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950">
                <a:solidFill>
                  <a:srgbClr val="FF9F5A"/>
                </a:solidFill>
                <a:latin typeface="Sarasa Gothic SC Bold"/>
                <a:ea typeface="Sarasa Gothic SC Bold"/>
                <a:cs typeface="Sarasa Gothic SC Bold"/>
              </a:rPr>
              <a:t>CLOSING ·</a:t>
            </a:r>
            <a:endParaRPr sz="1950">
              <a:solidFill>
                <a:srgbClr val="FF9F5A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5" name="Rectangle"/>
          <p:cNvSpPr>
            <a:spLocks noGrp="1"/>
          </p:cNvSpPr>
          <p:nvPr/>
        </p:nvSpPr>
        <p:spPr>
          <a:xfrm>
            <a:off x="1143000" y="2362200"/>
            <a:ext cx="1238250" cy="57150"/>
          </a:xfrm>
          <a:prstGeom prst="roundRect">
            <a:avLst>
              <a:gd name="adj" fmla="val 50000"/>
            </a:avLst>
          </a:prstGeom>
          <a:solidFill>
            <a:srgbClr val="FF9F5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"/>
          <p:cNvSpPr>
            <a:spLocks noGrp="1"/>
          </p:cNvSpPr>
          <p:nvPr/>
        </p:nvSpPr>
        <p:spPr>
          <a:xfrm>
            <a:off x="1143000" y="3048000"/>
            <a:ext cx="16002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450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知教把一次提问变成可验证的学习过程，</a:t>
            </a:r>
            <a:endParaRPr sz="4500">
              <a:solidFill>
                <a:srgbClr val="FFFFFF"/>
              </a:solidFill>
              <a:latin typeface="Source Han Sans CN"/>
              <a:ea typeface="Source Han Sans CN"/>
              <a:cs typeface="Source Han Sans CN"/>
            </a:endParaRPr>
          </a:p>
          <a:p>
            <a:r>
              <a:rPr sz="450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让 AI 先理解学生，再决定怎么教。</a:t>
            </a:r>
            <a:endParaRPr sz="4500">
              <a:solidFill>
                <a:srgbClr val="FFFFFF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7" name="TextBox"/>
          <p:cNvSpPr>
            <a:spLocks noGrp="1"/>
          </p:cNvSpPr>
          <p:nvPr/>
        </p:nvSpPr>
        <p:spPr>
          <a:xfrm>
            <a:off x="1143000" y="5334000"/>
            <a:ext cx="8125873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2250">
                <a:solidFill>
                  <a:srgbClr val="C9D4EA"/>
                </a:solidFill>
                <a:latin typeface="Sarasa Gothic SC Bold"/>
                <a:ea typeface="Sarasa Gothic SC Bold"/>
                <a:cs typeface="Sarasa Gothic SC Bold"/>
              </a:rPr>
              <a:t>离线演示可复现 · 实时模型可接入 · 边界透明</a:t>
            </a:r>
            <a:endParaRPr sz="2250">
              <a:solidFill>
                <a:srgbClr val="C9D4EA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8" name="Rectangle"/>
          <p:cNvSpPr>
            <a:spLocks noGrp="1"/>
          </p:cNvSpPr>
          <p:nvPr/>
        </p:nvSpPr>
        <p:spPr>
          <a:xfrm>
            <a:off x="1143000" y="7429500"/>
            <a:ext cx="4000500" cy="8001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lipse"/>
          <p:cNvSpPr>
            <a:spLocks noGrp="1"/>
          </p:cNvSpPr>
          <p:nvPr/>
        </p:nvSpPr>
        <p:spPr>
          <a:xfrm>
            <a:off x="1371600" y="7639050"/>
            <a:ext cx="381000" cy="381000"/>
          </a:xfrm>
          <a:prstGeom prst="ellipse">
            <a:avLst/>
          </a:prstGeom>
          <a:solidFill>
            <a:srgbClr val="FF9F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"/>
          <p:cNvSpPr>
            <a:spLocks noGrp="1"/>
          </p:cNvSpPr>
          <p:nvPr/>
        </p:nvSpPr>
        <p:spPr>
          <a:xfrm>
            <a:off x="1905000" y="7429500"/>
            <a:ext cx="18669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先追问，再讲解</a:t>
            </a:r>
            <a:endParaRPr sz="2100">
              <a:solidFill>
                <a:srgbClr val="FFFFFF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1" name="Rectangle"/>
          <p:cNvSpPr>
            <a:spLocks noGrp="1"/>
          </p:cNvSpPr>
          <p:nvPr/>
        </p:nvSpPr>
        <p:spPr>
          <a:xfrm>
            <a:off x="5334000" y="7429500"/>
            <a:ext cx="4000500" cy="8001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lipse"/>
          <p:cNvSpPr>
            <a:spLocks noGrp="1"/>
          </p:cNvSpPr>
          <p:nvPr/>
        </p:nvSpPr>
        <p:spPr>
          <a:xfrm>
            <a:off x="5562600" y="7639050"/>
            <a:ext cx="381000" cy="381000"/>
          </a:xfrm>
          <a:prstGeom prst="ellipse">
            <a:avLst/>
          </a:prstGeom>
          <a:solidFill>
            <a:srgbClr val="FF9F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"/>
          <p:cNvSpPr>
            <a:spLocks noGrp="1"/>
          </p:cNvSpPr>
          <p:nvPr/>
        </p:nvSpPr>
        <p:spPr>
          <a:xfrm>
            <a:off x="6096000" y="7429500"/>
            <a:ext cx="21336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能验证，才叫学会</a:t>
            </a:r>
            <a:endParaRPr sz="2100">
              <a:solidFill>
                <a:srgbClr val="FFFFFF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4" name="Rectangle"/>
          <p:cNvSpPr>
            <a:spLocks noGrp="1"/>
          </p:cNvSpPr>
          <p:nvPr/>
        </p:nvSpPr>
        <p:spPr>
          <a:xfrm>
            <a:off x="9525000" y="7429500"/>
            <a:ext cx="4000500" cy="8001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lipse"/>
          <p:cNvSpPr>
            <a:spLocks noGrp="1"/>
          </p:cNvSpPr>
          <p:nvPr/>
        </p:nvSpPr>
        <p:spPr>
          <a:xfrm>
            <a:off x="9753600" y="7639050"/>
            <a:ext cx="381000" cy="381000"/>
          </a:xfrm>
          <a:prstGeom prst="ellipse">
            <a:avLst/>
          </a:prstGeom>
          <a:solidFill>
            <a:srgbClr val="FF9F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"/>
          <p:cNvSpPr>
            <a:spLocks noGrp="1"/>
          </p:cNvSpPr>
          <p:nvPr/>
        </p:nvSpPr>
        <p:spPr>
          <a:xfrm>
            <a:off x="10287000" y="7429500"/>
            <a:ext cx="18669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sz="2100">
                <a:solidFill>
                  <a:srgbClr val="FFFFFF"/>
                </a:solidFill>
                <a:latin typeface="Sarasa Gothic SC Bold"/>
                <a:ea typeface="Sarasa Gothic SC Bold"/>
                <a:cs typeface="Sarasa Gothic SC Bold"/>
              </a:rPr>
              <a:t>不替代教师判断</a:t>
            </a:r>
            <a:endParaRPr sz="2100">
              <a:solidFill>
                <a:srgbClr val="FFFFFF"/>
              </a:solidFill>
              <a:latin typeface="Sarasa Gothic SC Bold"/>
              <a:ea typeface="Sarasa Gothic SC Bold"/>
              <a:cs typeface="Sarasa Gothic SC Bold"/>
            </a:endParaRPr>
          </a:p>
        </p:txBody>
      </p:sp>
      <p:sp>
        <p:nvSpPr>
          <p:cNvPr id="17" name="TextBox"/>
          <p:cNvSpPr>
            <a:spLocks noGrp="1"/>
          </p:cNvSpPr>
          <p:nvPr/>
        </p:nvSpPr>
        <p:spPr>
          <a:xfrm>
            <a:off x="1143000" y="9525000"/>
            <a:ext cx="540869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sz="1650">
                <a:solidFill>
                  <a:srgbClr val="8A93B8"/>
                </a:solidFill>
                <a:latin typeface="Sarasa Gothic SC"/>
                <a:ea typeface="Sarasa Gothic SC"/>
                <a:cs typeface="Sarasa Gothic SC"/>
              </a:rPr>
              <a:t>GOAI 世界人工智能开源大赛 · 无界应用赛道 · AI+教育</a:t>
            </a:r>
            <a:endParaRPr sz="1650">
              <a:solidFill>
                <a:srgbClr val="8A93B8"/>
              </a:solidFill>
              <a:latin typeface="Sarasa Gothic SC"/>
              <a:ea typeface="Sarasa Gothic SC"/>
              <a:cs typeface="Sarasa Gothic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2215</Words>
  <Application>WPS 演示</Application>
  <PresentationFormat>Converted Presentation</PresentationFormat>
  <Paragraphs>425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Arial</vt:lpstr>
      <vt:lpstr>Sarasa Gothic SC Bold</vt:lpstr>
      <vt:lpstr>FFont-Family</vt:lpstr>
      <vt:lpstr>Source Han Sans CN</vt:lpstr>
      <vt:lpstr>Source Han Sans CN Bold</vt:lpstr>
      <vt:lpstr>Sarasa Gothic SC</vt:lpstr>
      <vt:lpstr>Calibri</vt:lpstr>
      <vt:lpstr>微软雅黑</vt:lpstr>
      <vt:lpstr>Arial Unicode MS</vt:lpstr>
      <vt:lpstr>MS PGothic</vt:lpstr>
      <vt:lpstr>PAGX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WPS_1641184043</cp:lastModifiedBy>
  <cp:revision>1</cp:revision>
  <dcterms:created xsi:type="dcterms:W3CDTF">2026-08-16T15:28:10Z</dcterms:created>
  <dcterms:modified xsi:type="dcterms:W3CDTF">2026-08-16T15:28:10Z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63DA48DBFC464AD4975D0CBB265727E5_12</vt:lpwstr>
  </property>
  <property fmtid="{D5CDD505-2E9C-101B-9397-08002B2CF9AE}" pid="3" name="KSOProductBuildVer">
    <vt:lpwstr>2052-12.1.0.28043</vt:lpwstr>
  </property>
</Properties>
</file>